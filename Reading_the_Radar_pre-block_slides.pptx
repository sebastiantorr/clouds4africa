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79" r:id="rId9"/>
    <p:sldId id="263" r:id="rId10"/>
    <p:sldId id="264" r:id="rId11"/>
    <p:sldId id="265" r:id="rId12"/>
    <p:sldId id="266" r:id="rId13"/>
    <p:sldId id="267" r:id="rId14"/>
    <p:sldId id="280" r:id="rId15"/>
    <p:sldId id="268" r:id="rId16"/>
    <p:sldId id="269" r:id="rId17"/>
    <p:sldId id="270" r:id="rId18"/>
    <p:sldId id="271" r:id="rId19"/>
    <p:sldId id="272" r:id="rId20"/>
    <p:sldId id="281" r:id="rId21"/>
    <p:sldId id="273" r:id="rId22"/>
    <p:sldId id="274" r:id="rId23"/>
    <p:sldId id="275" r:id="rId24"/>
    <p:sldId id="276" r:id="rId25"/>
    <p:sldId id="277" r:id="rId26"/>
    <p:sldId id="282"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7" d="100"/>
          <a:sy n="147" d="100"/>
        </p:scale>
        <p:origin x="112" y="6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7854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is the short briefing to run before each hands-on block. Each block is slider-driven notebooks — no coding — followed by a real radar case, all at three depth levels.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blocks follow the life of one measurement: where the beam goes, how big the sample is, how range and velocity are extracted, and how wavelength and the scan shape the result. Point out that blocks build on each other.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every later block assumes you know the beam is a physical volume in space. Keep this one intuitive.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orientation — most of the audience forecasts but may not have built the mental model of how a value gets made. Thirty seconds each.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2x2 is the spine of Block 1 — the four widgets map one-to-one onto these four behaviours.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operational stakes. The amber line is the sentence you want them repeating back all week.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notebook. Remind them to run the install and setup cells once, then work the widgets in order.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notebook. Remind them to run the install and setup cells once, then work the widgets in order.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276437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Block 1: now that we know where the beam goes, ask how big the sample is and whether a faint echo even registers.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a distant pixel averages a huge box of atmosphere. Volume grows as r-squared — both cross-beam dimensions widen.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slider, three consequences. This is where they internalise that radar design is all trade-offs.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back: a weak distant echo that's missing may be below the noise floor, not absent. Another flavour of 'no echo is not no weather.'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two-radar case is the controlled experiment: same storm, two ranges, so resolution loss separates cleanly from beam height.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notebook. Remind them to run the install and setup cells once, then work the widgets in order.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451566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block is the time-domain twin of Block 1. The key tension: one knob (the PRF) sets two limits that fight each other.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they see both r_max and v_max depend on the SAME PRF, in opposite directions. That sets up the dilemma.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equation of the block. Note the wavelength dependence — it returns in Block 4 and matters for C-band Africa.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misconception: aliasing and folding are not errors. They are predictable consequences of sampling that a reader learns to undo.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hurricane case the velocity disk is visibly smaller than reflectivity — that edge is r_max made visible. Pre-SZ-2 data, so folded gates are dropped, not painted.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notebook. Remind them to run the install and setup cells once, then work the widgets in order.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4024592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Strongest local hook of the course: most African networks are C-band. This block is the payoff and the synthesis.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band the audience actually operates (C). Frame attenuation as the price paid for the smaller-dish advantage.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widget 2. Sensitivity favours short wavelengths; attenuation favours long ones; the crossover decides per situation.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 strategy ties the whole course together: vertical detail vs clean velocity (Block 3) vs update speed. No free lunch.</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arc. Mention KDP as the operational answer to attenuation so C-band doesn't look doomed — it's the bridge to dual-pol, which this course doesn't cover.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notebook. Remind them to run the install and setup cells once, then work the widgets in order.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838356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4069080" y="566928"/>
            <a:ext cx="1005840" cy="1005840"/>
          </a:xfrm>
          <a:prstGeom prst="ellipse">
            <a:avLst/>
          </a:prstGeom>
          <a:solidFill>
            <a:srgbClr val="E0A33E"/>
          </a:solidFill>
          <a:ln/>
        </p:spPr>
      </p:sp>
      <p:pic>
        <p:nvPicPr>
          <p:cNvPr id="3" name="Image 0" descr="preencoded.png"/>
          <p:cNvPicPr>
            <a:picLocks noChangeAspect="1"/>
          </p:cNvPicPr>
          <p:nvPr/>
        </p:nvPicPr>
        <p:blipFill>
          <a:blip r:embed="rId3"/>
          <a:stretch>
            <a:fillRect/>
          </a:stretch>
        </p:blipFill>
        <p:spPr>
          <a:xfrm>
            <a:off x="4320540" y="818388"/>
            <a:ext cx="502920" cy="502920"/>
          </a:xfrm>
          <a:prstGeom prst="rect">
            <a:avLst/>
          </a:prstGeom>
        </p:spPr>
      </p:pic>
      <p:sp>
        <p:nvSpPr>
          <p:cNvPr id="4" name="Text 1"/>
          <p:cNvSpPr/>
          <p:nvPr/>
        </p:nvSpPr>
        <p:spPr>
          <a:xfrm>
            <a:off x="457200" y="1783080"/>
            <a:ext cx="822960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Reading the Radar</a:t>
            </a:r>
            <a:endParaRPr lang="en-US" sz="4600" dirty="0"/>
          </a:p>
        </p:txBody>
      </p:sp>
      <p:sp>
        <p:nvSpPr>
          <p:cNvPr id="5" name="Text 2"/>
          <p:cNvSpPr/>
          <p:nvPr/>
        </p:nvSpPr>
        <p:spPr>
          <a:xfrm>
            <a:off x="457200" y="2670048"/>
            <a:ext cx="8229600" cy="457200"/>
          </a:xfrm>
          <a:prstGeom prst="rect">
            <a:avLst/>
          </a:prstGeom>
          <a:noFill/>
          <a:ln/>
        </p:spPr>
        <p:txBody>
          <a:bodyPr wrap="square" lIns="0" tIns="0" rIns="0" bIns="0" rtlCol="0" anchor="ctr"/>
          <a:lstStyle/>
          <a:p>
            <a:pPr marL="0" indent="0" algn="ctr">
              <a:buNone/>
            </a:pPr>
            <a:r>
              <a:rPr lang="en-US" sz="1900" i="1" dirty="0">
                <a:solidFill>
                  <a:srgbClr val="A9CBD8"/>
                </a:solidFill>
                <a:latin typeface="Cambria" pitchFamily="34" charset="0"/>
                <a:ea typeface="Cambria" pitchFamily="34" charset="-122"/>
                <a:cs typeface="Cambria" pitchFamily="34" charset="-120"/>
              </a:rPr>
              <a:t>A hands-on guide to what weather radar sees — and misses</a:t>
            </a:r>
            <a:endParaRPr lang="en-US" sz="1900" dirty="0"/>
          </a:p>
        </p:txBody>
      </p:sp>
      <p:sp>
        <p:nvSpPr>
          <p:cNvPr id="6" name="Text 3"/>
          <p:cNvSpPr/>
          <p:nvPr/>
        </p:nvSpPr>
        <p:spPr>
          <a:xfrm>
            <a:off x="457200" y="3977640"/>
            <a:ext cx="8229600" cy="365760"/>
          </a:xfrm>
          <a:prstGeom prst="rect">
            <a:avLst/>
          </a:prstGeom>
          <a:noFill/>
          <a:ln/>
        </p:spPr>
        <p:txBody>
          <a:bodyPr wrap="square" lIns="0" tIns="0" rIns="0" bIns="0" rtlCol="0" anchor="ctr"/>
          <a:lstStyle/>
          <a:p>
            <a:pPr marL="0" indent="0" algn="ctr">
              <a:buNone/>
            </a:pPr>
            <a:r>
              <a:rPr lang="en-US" sz="1400" dirty="0">
                <a:solidFill>
                  <a:srgbClr val="DCE7EE"/>
                </a:solidFill>
                <a:latin typeface="Calibri" pitchFamily="34" charset="0"/>
                <a:ea typeface="Calibri" pitchFamily="34" charset="-122"/>
                <a:cs typeface="Calibri" pitchFamily="34" charset="-120"/>
              </a:rPr>
              <a:t>Clouds4Africa   ·   July 2026</a:t>
            </a:r>
            <a:endParaRPr lang="en-US" sz="1400" dirty="0"/>
          </a:p>
        </p:txBody>
      </p:sp>
      <p:sp>
        <p:nvSpPr>
          <p:cNvPr id="7" name="Text 4"/>
          <p:cNvSpPr/>
          <p:nvPr/>
        </p:nvSpPr>
        <p:spPr>
          <a:xfrm>
            <a:off x="392196" y="3186684"/>
            <a:ext cx="8229600" cy="365760"/>
          </a:xfrm>
          <a:prstGeom prst="rect">
            <a:avLst/>
          </a:prstGeom>
          <a:noFill/>
          <a:ln/>
        </p:spPr>
        <p:txBody>
          <a:bodyPr wrap="square" lIns="0" tIns="0" rIns="0" bIns="0" rtlCol="0" anchor="ctr"/>
          <a:lstStyle/>
          <a:p>
            <a:pPr marL="0" indent="0" algn="ctr">
              <a:buNone/>
            </a:pPr>
            <a:r>
              <a:rPr lang="en-US" sz="1600" dirty="0">
                <a:solidFill>
                  <a:srgbClr val="A9CBD8"/>
                </a:solidFill>
                <a:latin typeface="Calibri" pitchFamily="34" charset="0"/>
                <a:ea typeface="Calibri" pitchFamily="34" charset="-122"/>
                <a:cs typeface="Calibri" pitchFamily="34" charset="-120"/>
              </a:rPr>
              <a:t>Sebastián Torres  —  CIWRO / University of Oklahoma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The four blocks: one measurement, end to end</a:t>
            </a:r>
            <a:endParaRPr lang="en-US" sz="2700" dirty="0"/>
          </a:p>
        </p:txBody>
      </p:sp>
      <p:sp>
        <p:nvSpPr>
          <p:cNvPr id="5" name="Shape 2"/>
          <p:cNvSpPr/>
          <p:nvPr/>
        </p:nvSpPr>
        <p:spPr>
          <a:xfrm>
            <a:off x="548640" y="1371600"/>
            <a:ext cx="4023360" cy="1371600"/>
          </a:xfrm>
          <a:prstGeom prst="roundRect">
            <a:avLst>
              <a:gd name="adj" fmla="val 5333"/>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609344"/>
            <a:ext cx="502920" cy="502920"/>
          </a:xfrm>
          <a:prstGeom prst="ellipse">
            <a:avLst/>
          </a:prstGeom>
          <a:solidFill>
            <a:srgbClr val="1C7293"/>
          </a:solidFill>
          <a:ln/>
        </p:spPr>
      </p:sp>
      <p:pic>
        <p:nvPicPr>
          <p:cNvPr id="7" name="Image 1" descr="preencoded.png"/>
          <p:cNvPicPr>
            <a:picLocks noChangeAspect="1"/>
          </p:cNvPicPr>
          <p:nvPr/>
        </p:nvPicPr>
        <p:blipFill>
          <a:blip r:embed="rId3"/>
          <a:stretch>
            <a:fillRect/>
          </a:stretch>
        </p:blipFill>
        <p:spPr>
          <a:xfrm>
            <a:off x="912114" y="1735074"/>
            <a:ext cx="251460" cy="251460"/>
          </a:xfrm>
          <a:prstGeom prst="rect">
            <a:avLst/>
          </a:prstGeom>
        </p:spPr>
      </p:pic>
      <p:sp>
        <p:nvSpPr>
          <p:cNvPr id="8" name="Text 4"/>
          <p:cNvSpPr/>
          <p:nvPr/>
        </p:nvSpPr>
        <p:spPr>
          <a:xfrm>
            <a:off x="1444752" y="1609344"/>
            <a:ext cx="292608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1 · The beam in space</a:t>
            </a:r>
            <a:endParaRPr lang="en-US" sz="1650" dirty="0"/>
          </a:p>
        </p:txBody>
      </p:sp>
      <p:sp>
        <p:nvSpPr>
          <p:cNvPr id="9" name="Text 5"/>
          <p:cNvSpPr/>
          <p:nvPr/>
        </p:nvSpPr>
        <p:spPr>
          <a:xfrm>
            <a:off x="804672" y="2212848"/>
            <a:ext cx="3511296" cy="40233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Where the echo actually comes from — spread, height, bending, blockage.</a:t>
            </a:r>
            <a:endParaRPr lang="en-US" sz="1250" dirty="0"/>
          </a:p>
        </p:txBody>
      </p:sp>
      <p:sp>
        <p:nvSpPr>
          <p:cNvPr id="10" name="Shape 6"/>
          <p:cNvSpPr/>
          <p:nvPr/>
        </p:nvSpPr>
        <p:spPr>
          <a:xfrm>
            <a:off x="4572000" y="1371600"/>
            <a:ext cx="4023360" cy="1371600"/>
          </a:xfrm>
          <a:prstGeom prst="roundRect">
            <a:avLst>
              <a:gd name="adj" fmla="val 5333"/>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4809744" y="1609344"/>
            <a:ext cx="502920" cy="502920"/>
          </a:xfrm>
          <a:prstGeom prst="ellipse">
            <a:avLst/>
          </a:prstGeom>
          <a:solidFill>
            <a:srgbClr val="1C7293"/>
          </a:solidFill>
          <a:ln/>
        </p:spPr>
      </p:sp>
      <p:pic>
        <p:nvPicPr>
          <p:cNvPr id="12" name="Image 2" descr="preencoded.png"/>
          <p:cNvPicPr>
            <a:picLocks noChangeAspect="1"/>
          </p:cNvPicPr>
          <p:nvPr/>
        </p:nvPicPr>
        <p:blipFill>
          <a:blip r:embed="rId4"/>
          <a:stretch>
            <a:fillRect/>
          </a:stretch>
        </p:blipFill>
        <p:spPr>
          <a:xfrm>
            <a:off x="4935474" y="1735074"/>
            <a:ext cx="251460" cy="251460"/>
          </a:xfrm>
          <a:prstGeom prst="rect">
            <a:avLst/>
          </a:prstGeom>
        </p:spPr>
      </p:pic>
      <p:sp>
        <p:nvSpPr>
          <p:cNvPr id="13" name="Text 8"/>
          <p:cNvSpPr/>
          <p:nvPr/>
        </p:nvSpPr>
        <p:spPr>
          <a:xfrm>
            <a:off x="5468112" y="1609344"/>
            <a:ext cx="292608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2 · One measurement</a:t>
            </a:r>
            <a:endParaRPr lang="en-US" sz="1650" dirty="0"/>
          </a:p>
        </p:txBody>
      </p:sp>
      <p:sp>
        <p:nvSpPr>
          <p:cNvPr id="14" name="Text 9"/>
          <p:cNvSpPr/>
          <p:nvPr/>
        </p:nvSpPr>
        <p:spPr>
          <a:xfrm>
            <a:off x="4828032" y="2212848"/>
            <a:ext cx="3511296" cy="40233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How big a single value is, and whether the radar can even detect it.</a:t>
            </a:r>
            <a:endParaRPr lang="en-US" sz="1250" dirty="0"/>
          </a:p>
        </p:txBody>
      </p:sp>
      <p:sp>
        <p:nvSpPr>
          <p:cNvPr id="15" name="Shape 10"/>
          <p:cNvSpPr/>
          <p:nvPr/>
        </p:nvSpPr>
        <p:spPr>
          <a:xfrm>
            <a:off x="548640" y="2907792"/>
            <a:ext cx="4023360" cy="1371600"/>
          </a:xfrm>
          <a:prstGeom prst="roundRect">
            <a:avLst>
              <a:gd name="adj" fmla="val 5333"/>
            </a:avLst>
          </a:prstGeom>
          <a:solidFill>
            <a:srgbClr val="F1F6F8"/>
          </a:solidFill>
          <a:ln/>
          <a:effectLst>
            <a:outerShdw blurRad="88900" dist="38100" dir="5400000" algn="bl" rotWithShape="0">
              <a:srgbClr val="1A2433">
                <a:alpha val="16000"/>
              </a:srgbClr>
            </a:outerShdw>
          </a:effectLst>
        </p:spPr>
      </p:sp>
      <p:sp>
        <p:nvSpPr>
          <p:cNvPr id="16" name="Shape 11"/>
          <p:cNvSpPr/>
          <p:nvPr/>
        </p:nvSpPr>
        <p:spPr>
          <a:xfrm>
            <a:off x="786384" y="3145536"/>
            <a:ext cx="502920" cy="502920"/>
          </a:xfrm>
          <a:prstGeom prst="ellipse">
            <a:avLst/>
          </a:prstGeom>
          <a:solidFill>
            <a:srgbClr val="1C7293"/>
          </a:solidFill>
          <a:ln/>
        </p:spPr>
      </p:sp>
      <p:pic>
        <p:nvPicPr>
          <p:cNvPr id="17" name="Image 3" descr="preencoded.png"/>
          <p:cNvPicPr>
            <a:picLocks noChangeAspect="1"/>
          </p:cNvPicPr>
          <p:nvPr/>
        </p:nvPicPr>
        <p:blipFill>
          <a:blip r:embed="rId5"/>
          <a:stretch>
            <a:fillRect/>
          </a:stretch>
        </p:blipFill>
        <p:spPr>
          <a:xfrm>
            <a:off x="912114" y="3271266"/>
            <a:ext cx="251460" cy="251460"/>
          </a:xfrm>
          <a:prstGeom prst="rect">
            <a:avLst/>
          </a:prstGeom>
        </p:spPr>
      </p:pic>
      <p:sp>
        <p:nvSpPr>
          <p:cNvPr id="18" name="Text 12"/>
          <p:cNvSpPr/>
          <p:nvPr/>
        </p:nvSpPr>
        <p:spPr>
          <a:xfrm>
            <a:off x="1444752" y="3145536"/>
            <a:ext cx="292608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3 · Range, velocity &amp; ambiguity</a:t>
            </a:r>
            <a:endParaRPr lang="en-US" sz="1650" dirty="0"/>
          </a:p>
        </p:txBody>
      </p:sp>
      <p:sp>
        <p:nvSpPr>
          <p:cNvPr id="19" name="Text 13"/>
          <p:cNvSpPr/>
          <p:nvPr/>
        </p:nvSpPr>
        <p:spPr>
          <a:xfrm>
            <a:off x="804672" y="3749040"/>
            <a:ext cx="3511296" cy="40233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How far and how fast — and where the sampling breaks down.</a:t>
            </a:r>
            <a:endParaRPr lang="en-US" sz="1250" dirty="0"/>
          </a:p>
        </p:txBody>
      </p:sp>
      <p:sp>
        <p:nvSpPr>
          <p:cNvPr id="20" name="Shape 14"/>
          <p:cNvSpPr/>
          <p:nvPr/>
        </p:nvSpPr>
        <p:spPr>
          <a:xfrm>
            <a:off x="4572000" y="2907792"/>
            <a:ext cx="4023360" cy="1371600"/>
          </a:xfrm>
          <a:prstGeom prst="roundRect">
            <a:avLst>
              <a:gd name="adj" fmla="val 5333"/>
            </a:avLst>
          </a:prstGeom>
          <a:solidFill>
            <a:srgbClr val="F1F6F8"/>
          </a:solidFill>
          <a:ln/>
          <a:effectLst>
            <a:outerShdw blurRad="88900" dist="38100" dir="5400000" algn="bl" rotWithShape="0">
              <a:srgbClr val="1A2433">
                <a:alpha val="16000"/>
              </a:srgbClr>
            </a:outerShdw>
          </a:effectLst>
        </p:spPr>
      </p:sp>
      <p:sp>
        <p:nvSpPr>
          <p:cNvPr id="21" name="Shape 15"/>
          <p:cNvSpPr/>
          <p:nvPr/>
        </p:nvSpPr>
        <p:spPr>
          <a:xfrm>
            <a:off x="4809744" y="3145536"/>
            <a:ext cx="502920" cy="502920"/>
          </a:xfrm>
          <a:prstGeom prst="ellipse">
            <a:avLst/>
          </a:prstGeom>
          <a:solidFill>
            <a:srgbClr val="1C7293"/>
          </a:solidFill>
          <a:ln/>
        </p:spPr>
      </p:sp>
      <p:pic>
        <p:nvPicPr>
          <p:cNvPr id="22" name="Image 4" descr="preencoded.png"/>
          <p:cNvPicPr>
            <a:picLocks noChangeAspect="1"/>
          </p:cNvPicPr>
          <p:nvPr/>
        </p:nvPicPr>
        <p:blipFill>
          <a:blip r:embed="rId6"/>
          <a:stretch>
            <a:fillRect/>
          </a:stretch>
        </p:blipFill>
        <p:spPr>
          <a:xfrm>
            <a:off x="4935474" y="3271266"/>
            <a:ext cx="251460" cy="251460"/>
          </a:xfrm>
          <a:prstGeom prst="rect">
            <a:avLst/>
          </a:prstGeom>
        </p:spPr>
      </p:pic>
      <p:sp>
        <p:nvSpPr>
          <p:cNvPr id="23" name="Text 16"/>
          <p:cNvSpPr/>
          <p:nvPr/>
        </p:nvSpPr>
        <p:spPr>
          <a:xfrm>
            <a:off x="5468112" y="3145536"/>
            <a:ext cx="292608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4 · Wavelength, weather &amp; the scan</a:t>
            </a:r>
            <a:endParaRPr lang="en-US" sz="1650" dirty="0"/>
          </a:p>
        </p:txBody>
      </p:sp>
      <p:sp>
        <p:nvSpPr>
          <p:cNvPr id="24" name="Text 17"/>
          <p:cNvSpPr/>
          <p:nvPr/>
        </p:nvSpPr>
        <p:spPr>
          <a:xfrm>
            <a:off x="4828032" y="3749040"/>
            <a:ext cx="3511296" cy="40233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What the wavelength decides, and how a volume is assembled.</a:t>
            </a:r>
            <a:endParaRPr lang="en-US" sz="1250" dirty="0"/>
          </a:p>
        </p:txBody>
      </p:sp>
      <p:sp>
        <p:nvSpPr>
          <p:cNvPr id="25" name="Text 18"/>
          <p:cNvSpPr/>
          <p:nvPr/>
        </p:nvSpPr>
        <p:spPr>
          <a:xfrm>
            <a:off x="548640" y="4480560"/>
            <a:ext cx="8046720" cy="365760"/>
          </a:xfrm>
          <a:prstGeom prst="rect">
            <a:avLst/>
          </a:prstGeom>
          <a:noFill/>
          <a:ln/>
        </p:spPr>
        <p:txBody>
          <a:bodyPr wrap="square" lIns="0" tIns="0" rIns="0" bIns="0" rtlCol="0" anchor="ctr"/>
          <a:lstStyle/>
          <a:p>
            <a:pPr marL="0" indent="0" algn="ctr">
              <a:buNone/>
            </a:pPr>
            <a:r>
              <a:rPr lang="en-US" sz="1250" i="1" dirty="0">
                <a:solidFill>
                  <a:srgbClr val="5C6B7A"/>
                </a:solidFill>
                <a:latin typeface="Calibri" pitchFamily="34" charset="0"/>
                <a:ea typeface="Calibri" pitchFamily="34" charset="-122"/>
                <a:cs typeface="Calibri" pitchFamily="34" charset="-120"/>
              </a:rPr>
              <a:t>Each block: 3–4 slider widgets + a real-data case · questions at three levels (Basic · A little further · Going deeper).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A47"/>
        </a:solidFill>
        <a:effectLst/>
      </p:bgPr>
    </p:bg>
    <p:spTree>
      <p:nvGrpSpPr>
        <p:cNvPr id="1" name=""/>
        <p:cNvGrpSpPr/>
        <p:nvPr/>
      </p:nvGrpSpPr>
      <p:grpSpPr>
        <a:xfrm>
          <a:off x="0" y="0"/>
          <a:ext cx="0" cy="0"/>
          <a:chOff x="0" y="0"/>
          <a:chExt cx="0" cy="0"/>
        </a:xfrm>
      </p:grpSpPr>
      <p:sp>
        <p:nvSpPr>
          <p:cNvPr id="2" name="Text 0"/>
          <p:cNvSpPr/>
          <p:nvPr/>
        </p:nvSpPr>
        <p:spPr>
          <a:xfrm>
            <a:off x="5486400" y="-320040"/>
            <a:ext cx="3566160" cy="3108960"/>
          </a:xfrm>
          <a:prstGeom prst="rect">
            <a:avLst/>
          </a:prstGeom>
          <a:noFill/>
          <a:ln/>
        </p:spPr>
        <p:txBody>
          <a:bodyPr wrap="square" lIns="0" tIns="0" rIns="0" bIns="0" rtlCol="0" anchor="t"/>
          <a:lstStyle/>
          <a:p>
            <a:pPr marL="0" indent="0" algn="r">
              <a:buNone/>
            </a:pPr>
            <a:r>
              <a:rPr lang="en-US" sz="20000" b="1" dirty="0">
                <a:solidFill>
                  <a:srgbClr val="183B5E"/>
                </a:solidFill>
                <a:latin typeface="Cambria" pitchFamily="34" charset="0"/>
                <a:ea typeface="Cambria" pitchFamily="34" charset="-122"/>
                <a:cs typeface="Cambria" pitchFamily="34" charset="-120"/>
              </a:rPr>
              <a:t>01</a:t>
            </a:r>
            <a:endParaRPr lang="en-US" sz="20000" dirty="0"/>
          </a:p>
        </p:txBody>
      </p:sp>
      <p:sp>
        <p:nvSpPr>
          <p:cNvPr id="3" name="Shape 1"/>
          <p:cNvSpPr/>
          <p:nvPr/>
        </p:nvSpPr>
        <p:spPr>
          <a:xfrm>
            <a:off x="640080" y="731520"/>
            <a:ext cx="914400" cy="914400"/>
          </a:xfrm>
          <a:prstGeom prst="ellipse">
            <a:avLst/>
          </a:prstGeom>
          <a:solidFill>
            <a:srgbClr val="E0A33E"/>
          </a:solidFill>
          <a:ln/>
        </p:spPr>
      </p:sp>
      <p:pic>
        <p:nvPicPr>
          <p:cNvPr id="4" name="Image 0" descr="preencoded.png"/>
          <p:cNvPicPr>
            <a:picLocks noChangeAspect="1"/>
          </p:cNvPicPr>
          <p:nvPr/>
        </p:nvPicPr>
        <p:blipFill>
          <a:blip r:embed="rId3"/>
          <a:stretch>
            <a:fillRect/>
          </a:stretch>
        </p:blipFill>
        <p:spPr>
          <a:xfrm>
            <a:off x="868680" y="960120"/>
            <a:ext cx="457200" cy="457200"/>
          </a:xfrm>
          <a:prstGeom prst="rect">
            <a:avLst/>
          </a:prstGeom>
        </p:spPr>
      </p:pic>
      <p:sp>
        <p:nvSpPr>
          <p:cNvPr id="5" name="Text 2"/>
          <p:cNvSpPr/>
          <p:nvPr/>
        </p:nvSpPr>
        <p:spPr>
          <a:xfrm>
            <a:off x="676656" y="1810512"/>
            <a:ext cx="4572000" cy="365760"/>
          </a:xfrm>
          <a:prstGeom prst="rect">
            <a:avLst/>
          </a:prstGeom>
          <a:noFill/>
          <a:ln/>
        </p:spPr>
        <p:txBody>
          <a:bodyPr wrap="square" lIns="0" tIns="0" rIns="0" bIns="0" rtlCol="0" anchor="ctr"/>
          <a:lstStyle/>
          <a:p>
            <a:pPr marL="0" indent="0">
              <a:buNone/>
            </a:pPr>
            <a:r>
              <a:rPr lang="en-US" sz="1400" b="1" kern="0" spc="300" dirty="0">
                <a:solidFill>
                  <a:srgbClr val="E0A33E"/>
                </a:solidFill>
                <a:latin typeface="Calibri" pitchFamily="34" charset="0"/>
                <a:ea typeface="Calibri" pitchFamily="34" charset="-122"/>
                <a:cs typeface="Calibri" pitchFamily="34" charset="-120"/>
              </a:rPr>
              <a:t>BLOCK 01</a:t>
            </a:r>
            <a:endParaRPr lang="en-US" sz="1400" dirty="0"/>
          </a:p>
        </p:txBody>
      </p:sp>
      <p:sp>
        <p:nvSpPr>
          <p:cNvPr id="6" name="Text 3"/>
          <p:cNvSpPr/>
          <p:nvPr/>
        </p:nvSpPr>
        <p:spPr>
          <a:xfrm>
            <a:off x="621792" y="2121408"/>
            <a:ext cx="7955280" cy="9144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The beam in space</a:t>
            </a:r>
            <a:endParaRPr lang="en-US" sz="4000" dirty="0"/>
          </a:p>
        </p:txBody>
      </p:sp>
      <p:sp>
        <p:nvSpPr>
          <p:cNvPr id="7" name="Text 4"/>
          <p:cNvSpPr/>
          <p:nvPr/>
        </p:nvSpPr>
        <p:spPr>
          <a:xfrm>
            <a:off x="658368" y="3127248"/>
            <a:ext cx="7955280" cy="502920"/>
          </a:xfrm>
          <a:prstGeom prst="rect">
            <a:avLst/>
          </a:prstGeom>
          <a:noFill/>
          <a:ln/>
        </p:spPr>
        <p:txBody>
          <a:bodyPr wrap="square" lIns="0" tIns="0" rIns="0" bIns="0" rtlCol="0" anchor="ctr"/>
          <a:lstStyle/>
          <a:p>
            <a:pPr marL="0" indent="0">
              <a:buNone/>
            </a:pPr>
            <a:r>
              <a:rPr lang="en-US" sz="1800" i="1" dirty="0">
                <a:solidFill>
                  <a:srgbClr val="A9CBD8"/>
                </a:solidFill>
                <a:latin typeface="Cambria" pitchFamily="34" charset="0"/>
                <a:ea typeface="Cambria" pitchFamily="34" charset="-122"/>
                <a:cs typeface="Cambria" pitchFamily="34" charset="-120"/>
              </a:rPr>
              <a:t>Where does the echo actually come from?</a:t>
            </a:r>
            <a:endParaRPr lang="en-US" sz="1800" dirty="0"/>
          </a:p>
        </p:txBody>
      </p:sp>
      <p:sp>
        <p:nvSpPr>
          <p:cNvPr id="8" name="Text 5"/>
          <p:cNvSpPr/>
          <p:nvPr/>
        </p:nvSpPr>
        <p:spPr>
          <a:xfrm>
            <a:off x="658368" y="3822192"/>
            <a:ext cx="7955280" cy="822960"/>
          </a:xfrm>
          <a:prstGeom prst="rect">
            <a:avLst/>
          </a:prstGeom>
          <a:noFill/>
          <a:ln/>
        </p:spPr>
        <p:txBody>
          <a:bodyPr wrap="square" lIns="0" tIns="0" rIns="0" bIns="0" rtlCol="0" anchor="t"/>
          <a:lstStyle/>
          <a:p>
            <a:pPr marL="0" indent="0">
              <a:buNone/>
            </a:pPr>
            <a:r>
              <a:rPr lang="en-US" sz="1500" dirty="0">
                <a:solidFill>
                  <a:srgbClr val="DCE7EE"/>
                </a:solidFill>
                <a:latin typeface="Calibri" pitchFamily="34" charset="0"/>
                <a:ea typeface="Calibri" pitchFamily="34" charset="-122"/>
                <a:cs typeface="Calibri" pitchFamily="34" charset="-120"/>
              </a:rPr>
              <a:t>A radar doesn't measure a point — it measures a beam that spreads, climbs, bends, and can be blocked.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What a radar measures</a:t>
            </a:r>
            <a:endParaRPr lang="en-US" sz="2700" dirty="0"/>
          </a:p>
        </p:txBody>
      </p:sp>
      <p:sp>
        <p:nvSpPr>
          <p:cNvPr id="5" name="Shape 2"/>
          <p:cNvSpPr/>
          <p:nvPr/>
        </p:nvSpPr>
        <p:spPr>
          <a:xfrm>
            <a:off x="548640" y="1417320"/>
            <a:ext cx="8046720" cy="960120"/>
          </a:xfrm>
          <a:prstGeom prst="roundRect">
            <a:avLst>
              <a:gd name="adj" fmla="val 7619"/>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645920"/>
            <a:ext cx="502920" cy="502920"/>
          </a:xfrm>
          <a:prstGeom prst="ellipse">
            <a:avLst/>
          </a:prstGeom>
          <a:solidFill>
            <a:srgbClr val="1C7293"/>
          </a:solidFill>
          <a:ln/>
        </p:spPr>
      </p:sp>
      <p:pic>
        <p:nvPicPr>
          <p:cNvPr id="7" name="Image 1" descr="preencoded.png"/>
          <p:cNvPicPr>
            <a:picLocks noChangeAspect="1"/>
          </p:cNvPicPr>
          <p:nvPr/>
        </p:nvPicPr>
        <p:blipFill>
          <a:blip r:embed="rId3"/>
          <a:stretch>
            <a:fillRect/>
          </a:stretch>
        </p:blipFill>
        <p:spPr>
          <a:xfrm>
            <a:off x="912114" y="1771650"/>
            <a:ext cx="251460" cy="251460"/>
          </a:xfrm>
          <a:prstGeom prst="rect">
            <a:avLst/>
          </a:prstGeom>
        </p:spPr>
      </p:pic>
      <p:sp>
        <p:nvSpPr>
          <p:cNvPr id="8" name="Text 4"/>
          <p:cNvSpPr/>
          <p:nvPr/>
        </p:nvSpPr>
        <p:spPr>
          <a:xfrm>
            <a:off x="1481328" y="1545336"/>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Pulse and echo</a:t>
            </a:r>
            <a:endParaRPr lang="en-US" sz="1600" dirty="0"/>
          </a:p>
        </p:txBody>
      </p:sp>
      <p:sp>
        <p:nvSpPr>
          <p:cNvPr id="9" name="Text 5"/>
          <p:cNvSpPr/>
          <p:nvPr/>
        </p:nvSpPr>
        <p:spPr>
          <a:xfrm>
            <a:off x="1481328" y="1847088"/>
            <a:ext cx="6876288" cy="41148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Transmit a short pulse, then listen. Distance comes from the time delay — a later echo is farther away.</a:t>
            </a:r>
            <a:endParaRPr lang="en-US" sz="1250" dirty="0"/>
          </a:p>
        </p:txBody>
      </p:sp>
      <p:sp>
        <p:nvSpPr>
          <p:cNvPr id="10" name="Shape 6"/>
          <p:cNvSpPr/>
          <p:nvPr/>
        </p:nvSpPr>
        <p:spPr>
          <a:xfrm>
            <a:off x="548640" y="2496312"/>
            <a:ext cx="8046720" cy="960120"/>
          </a:xfrm>
          <a:prstGeom prst="roundRect">
            <a:avLst>
              <a:gd name="adj" fmla="val 7619"/>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786384" y="2724912"/>
            <a:ext cx="502920" cy="502920"/>
          </a:xfrm>
          <a:prstGeom prst="ellipse">
            <a:avLst/>
          </a:prstGeom>
          <a:solidFill>
            <a:srgbClr val="1C7293"/>
          </a:solidFill>
          <a:ln/>
        </p:spPr>
      </p:sp>
      <p:pic>
        <p:nvPicPr>
          <p:cNvPr id="12" name="Image 2" descr="preencoded.png"/>
          <p:cNvPicPr>
            <a:picLocks noChangeAspect="1"/>
          </p:cNvPicPr>
          <p:nvPr/>
        </p:nvPicPr>
        <p:blipFill>
          <a:blip r:embed="rId4"/>
          <a:stretch>
            <a:fillRect/>
          </a:stretch>
        </p:blipFill>
        <p:spPr>
          <a:xfrm>
            <a:off x="912114" y="2850642"/>
            <a:ext cx="251460" cy="251460"/>
          </a:xfrm>
          <a:prstGeom prst="rect">
            <a:avLst/>
          </a:prstGeom>
        </p:spPr>
      </p:pic>
      <p:sp>
        <p:nvSpPr>
          <p:cNvPr id="13" name="Text 8"/>
          <p:cNvSpPr/>
          <p:nvPr/>
        </p:nvSpPr>
        <p:spPr>
          <a:xfrm>
            <a:off x="1481328" y="2624328"/>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The products</a:t>
            </a:r>
            <a:endParaRPr lang="en-US" sz="1600" dirty="0"/>
          </a:p>
        </p:txBody>
      </p:sp>
      <p:sp>
        <p:nvSpPr>
          <p:cNvPr id="14" name="Text 9"/>
          <p:cNvSpPr/>
          <p:nvPr/>
        </p:nvSpPr>
        <p:spPr>
          <a:xfrm>
            <a:off x="1481328" y="2926080"/>
            <a:ext cx="6876288" cy="41148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Reflectivity (dBZ) — how much and how large the scatterers are — is the focus here. Velocity and dual-pol arrive in later blocks.</a:t>
            </a:r>
            <a:endParaRPr lang="en-US" sz="1250" dirty="0"/>
          </a:p>
        </p:txBody>
      </p:sp>
      <p:sp>
        <p:nvSpPr>
          <p:cNvPr id="15" name="Shape 10"/>
          <p:cNvSpPr/>
          <p:nvPr/>
        </p:nvSpPr>
        <p:spPr>
          <a:xfrm>
            <a:off x="548640" y="3575304"/>
            <a:ext cx="8046720" cy="960120"/>
          </a:xfrm>
          <a:prstGeom prst="roundRect">
            <a:avLst>
              <a:gd name="adj" fmla="val 7619"/>
            </a:avLst>
          </a:prstGeom>
          <a:solidFill>
            <a:srgbClr val="F1F6F8"/>
          </a:solidFill>
          <a:ln/>
          <a:effectLst>
            <a:outerShdw blurRad="88900" dist="38100" dir="5400000" algn="bl" rotWithShape="0">
              <a:srgbClr val="1A2433">
                <a:alpha val="16000"/>
              </a:srgbClr>
            </a:outerShdw>
          </a:effectLst>
        </p:spPr>
      </p:sp>
      <p:sp>
        <p:nvSpPr>
          <p:cNvPr id="16" name="Shape 11"/>
          <p:cNvSpPr/>
          <p:nvPr/>
        </p:nvSpPr>
        <p:spPr>
          <a:xfrm>
            <a:off x="786384" y="3803904"/>
            <a:ext cx="502920" cy="502920"/>
          </a:xfrm>
          <a:prstGeom prst="ellipse">
            <a:avLst/>
          </a:prstGeom>
          <a:solidFill>
            <a:srgbClr val="1C7293"/>
          </a:solidFill>
          <a:ln/>
        </p:spPr>
      </p:sp>
      <p:pic>
        <p:nvPicPr>
          <p:cNvPr id="17" name="Image 3" descr="preencoded.png"/>
          <p:cNvPicPr>
            <a:picLocks noChangeAspect="1"/>
          </p:cNvPicPr>
          <p:nvPr/>
        </p:nvPicPr>
        <p:blipFill>
          <a:blip r:embed="rId5"/>
          <a:stretch>
            <a:fillRect/>
          </a:stretch>
        </p:blipFill>
        <p:spPr>
          <a:xfrm>
            <a:off x="912114" y="3929634"/>
            <a:ext cx="251460" cy="251460"/>
          </a:xfrm>
          <a:prstGeom prst="rect">
            <a:avLst/>
          </a:prstGeom>
        </p:spPr>
      </p:pic>
      <p:sp>
        <p:nvSpPr>
          <p:cNvPr id="18" name="Text 12"/>
          <p:cNvSpPr/>
          <p:nvPr/>
        </p:nvSpPr>
        <p:spPr>
          <a:xfrm>
            <a:off x="1481328" y="3703320"/>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Tilt, azimuth, range</a:t>
            </a:r>
            <a:endParaRPr lang="en-US" sz="1600" dirty="0"/>
          </a:p>
        </p:txBody>
      </p:sp>
      <p:sp>
        <p:nvSpPr>
          <p:cNvPr id="19" name="Text 13"/>
          <p:cNvSpPr/>
          <p:nvPr/>
        </p:nvSpPr>
        <p:spPr>
          <a:xfrm>
            <a:off x="1481328" y="4005072"/>
            <a:ext cx="6876288" cy="41148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The beam points at an elevation (tilt) and azimuth and sweeps a circle to build a PPI; range is distance outward along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The one idea: the beam is a volume, not a ray</a:t>
            </a:r>
            <a:endParaRPr lang="en-US" sz="2700" dirty="0"/>
          </a:p>
        </p:txBody>
      </p:sp>
      <p:sp>
        <p:nvSpPr>
          <p:cNvPr id="5" name="Shape 2"/>
          <p:cNvSpPr/>
          <p:nvPr/>
        </p:nvSpPr>
        <p:spPr>
          <a:xfrm>
            <a:off x="548640" y="1371600"/>
            <a:ext cx="3840480" cy="1371600"/>
          </a:xfrm>
          <a:prstGeom prst="roundRect">
            <a:avLst>
              <a:gd name="adj" fmla="val 5333"/>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609344"/>
            <a:ext cx="502920" cy="502920"/>
          </a:xfrm>
          <a:prstGeom prst="ellipse">
            <a:avLst/>
          </a:prstGeom>
          <a:solidFill>
            <a:srgbClr val="1C7293"/>
          </a:solidFill>
          <a:ln/>
        </p:spPr>
      </p:sp>
      <p:pic>
        <p:nvPicPr>
          <p:cNvPr id="7" name="Image 1" descr="preencoded.png"/>
          <p:cNvPicPr>
            <a:picLocks noChangeAspect="1"/>
          </p:cNvPicPr>
          <p:nvPr/>
        </p:nvPicPr>
        <p:blipFill>
          <a:blip r:embed="rId4"/>
          <a:stretch>
            <a:fillRect/>
          </a:stretch>
        </p:blipFill>
        <p:spPr>
          <a:xfrm>
            <a:off x="912114" y="1735074"/>
            <a:ext cx="251460" cy="251460"/>
          </a:xfrm>
          <a:prstGeom prst="rect">
            <a:avLst/>
          </a:prstGeom>
        </p:spPr>
      </p:pic>
      <p:sp>
        <p:nvSpPr>
          <p:cNvPr id="8" name="Text 4"/>
          <p:cNvSpPr/>
          <p:nvPr/>
        </p:nvSpPr>
        <p:spPr>
          <a:xfrm>
            <a:off x="1444752" y="1609344"/>
            <a:ext cx="274320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Spreads</a:t>
            </a:r>
            <a:endParaRPr lang="en-US" sz="1650" dirty="0"/>
          </a:p>
        </p:txBody>
      </p:sp>
      <p:sp>
        <p:nvSpPr>
          <p:cNvPr id="9" name="Text 5"/>
          <p:cNvSpPr/>
          <p:nvPr/>
        </p:nvSpPr>
        <p:spPr>
          <a:xfrm>
            <a:off x="804672" y="2212848"/>
            <a:ext cx="3328416" cy="40233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θ ≈ 1.27 λ/D — fixed in degrees, so the physical width grows with range.</a:t>
            </a:r>
            <a:endParaRPr lang="en-US" sz="1250" dirty="0"/>
          </a:p>
        </p:txBody>
      </p:sp>
      <p:sp>
        <p:nvSpPr>
          <p:cNvPr id="10" name="Shape 6"/>
          <p:cNvSpPr/>
          <p:nvPr/>
        </p:nvSpPr>
        <p:spPr>
          <a:xfrm>
            <a:off x="4572000" y="1371600"/>
            <a:ext cx="3840480" cy="1371600"/>
          </a:xfrm>
          <a:prstGeom prst="roundRect">
            <a:avLst>
              <a:gd name="adj" fmla="val 5333"/>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4809744" y="1609344"/>
            <a:ext cx="502920" cy="502920"/>
          </a:xfrm>
          <a:prstGeom prst="ellipse">
            <a:avLst/>
          </a:prstGeom>
          <a:solidFill>
            <a:srgbClr val="1C7293"/>
          </a:solidFill>
          <a:ln/>
        </p:spPr>
      </p:sp>
      <p:pic>
        <p:nvPicPr>
          <p:cNvPr id="12" name="Image 2" descr="preencoded.png"/>
          <p:cNvPicPr>
            <a:picLocks noChangeAspect="1"/>
          </p:cNvPicPr>
          <p:nvPr/>
        </p:nvPicPr>
        <p:blipFill>
          <a:blip r:embed="rId5"/>
          <a:stretch>
            <a:fillRect/>
          </a:stretch>
        </p:blipFill>
        <p:spPr>
          <a:xfrm>
            <a:off x="4935474" y="1735074"/>
            <a:ext cx="251460" cy="251460"/>
          </a:xfrm>
          <a:prstGeom prst="rect">
            <a:avLst/>
          </a:prstGeom>
        </p:spPr>
      </p:pic>
      <p:sp>
        <p:nvSpPr>
          <p:cNvPr id="13" name="Text 8"/>
          <p:cNvSpPr/>
          <p:nvPr/>
        </p:nvSpPr>
        <p:spPr>
          <a:xfrm>
            <a:off x="5468112" y="1609344"/>
            <a:ext cx="274320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Climbs</a:t>
            </a:r>
            <a:endParaRPr lang="en-US" sz="1650" dirty="0"/>
          </a:p>
        </p:txBody>
      </p:sp>
      <p:sp>
        <p:nvSpPr>
          <p:cNvPr id="14" name="Text 9"/>
          <p:cNvSpPr/>
          <p:nvPr/>
        </p:nvSpPr>
        <p:spPr>
          <a:xfrm>
            <a:off x="4828032" y="2212848"/>
            <a:ext cx="3328416" cy="40233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The Earth curves away faster than the beam bends, so it rises with range.</a:t>
            </a:r>
            <a:endParaRPr lang="en-US" sz="1250" dirty="0"/>
          </a:p>
        </p:txBody>
      </p:sp>
      <p:sp>
        <p:nvSpPr>
          <p:cNvPr id="15" name="Shape 10"/>
          <p:cNvSpPr/>
          <p:nvPr/>
        </p:nvSpPr>
        <p:spPr>
          <a:xfrm>
            <a:off x="548640" y="2889504"/>
            <a:ext cx="3840480" cy="1371600"/>
          </a:xfrm>
          <a:prstGeom prst="roundRect">
            <a:avLst>
              <a:gd name="adj" fmla="val 5333"/>
            </a:avLst>
          </a:prstGeom>
          <a:solidFill>
            <a:srgbClr val="F1F6F8"/>
          </a:solidFill>
          <a:ln/>
          <a:effectLst>
            <a:outerShdw blurRad="88900" dist="38100" dir="5400000" algn="bl" rotWithShape="0">
              <a:srgbClr val="1A2433">
                <a:alpha val="16000"/>
              </a:srgbClr>
            </a:outerShdw>
          </a:effectLst>
        </p:spPr>
      </p:sp>
      <p:sp>
        <p:nvSpPr>
          <p:cNvPr id="16" name="Shape 11"/>
          <p:cNvSpPr/>
          <p:nvPr/>
        </p:nvSpPr>
        <p:spPr>
          <a:xfrm>
            <a:off x="786384" y="3127248"/>
            <a:ext cx="502920" cy="502920"/>
          </a:xfrm>
          <a:prstGeom prst="ellipse">
            <a:avLst/>
          </a:prstGeom>
          <a:solidFill>
            <a:srgbClr val="1C7293"/>
          </a:solidFill>
          <a:ln/>
        </p:spPr>
      </p:sp>
      <p:pic>
        <p:nvPicPr>
          <p:cNvPr id="17" name="Image 3" descr="preencoded.png"/>
          <p:cNvPicPr>
            <a:picLocks noChangeAspect="1"/>
          </p:cNvPicPr>
          <p:nvPr/>
        </p:nvPicPr>
        <p:blipFill>
          <a:blip r:embed="rId6"/>
          <a:stretch>
            <a:fillRect/>
          </a:stretch>
        </p:blipFill>
        <p:spPr>
          <a:xfrm>
            <a:off x="912114" y="3252978"/>
            <a:ext cx="251460" cy="251460"/>
          </a:xfrm>
          <a:prstGeom prst="rect">
            <a:avLst/>
          </a:prstGeom>
        </p:spPr>
      </p:pic>
      <p:sp>
        <p:nvSpPr>
          <p:cNvPr id="18" name="Text 12"/>
          <p:cNvSpPr/>
          <p:nvPr/>
        </p:nvSpPr>
        <p:spPr>
          <a:xfrm>
            <a:off x="1444752" y="3127248"/>
            <a:ext cx="274320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Bends</a:t>
            </a:r>
            <a:endParaRPr lang="en-US" sz="1650" dirty="0"/>
          </a:p>
        </p:txBody>
      </p:sp>
      <p:sp>
        <p:nvSpPr>
          <p:cNvPr id="19" name="Text 13"/>
          <p:cNvSpPr/>
          <p:nvPr/>
        </p:nvSpPr>
        <p:spPr>
          <a:xfrm>
            <a:off x="804672" y="3730752"/>
            <a:ext cx="3328416" cy="40233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Refractivity gradients bend the beam; strong ducting traps it and paints false echoes.</a:t>
            </a:r>
            <a:endParaRPr lang="en-US" sz="1250" dirty="0"/>
          </a:p>
        </p:txBody>
      </p:sp>
      <p:sp>
        <p:nvSpPr>
          <p:cNvPr id="20" name="Shape 14"/>
          <p:cNvSpPr/>
          <p:nvPr/>
        </p:nvSpPr>
        <p:spPr>
          <a:xfrm>
            <a:off x="4572000" y="2889504"/>
            <a:ext cx="3840480" cy="1371600"/>
          </a:xfrm>
          <a:prstGeom prst="roundRect">
            <a:avLst>
              <a:gd name="adj" fmla="val 5333"/>
            </a:avLst>
          </a:prstGeom>
          <a:solidFill>
            <a:srgbClr val="F1F6F8"/>
          </a:solidFill>
          <a:ln/>
          <a:effectLst>
            <a:outerShdw blurRad="88900" dist="38100" dir="5400000" algn="bl" rotWithShape="0">
              <a:srgbClr val="1A2433">
                <a:alpha val="16000"/>
              </a:srgbClr>
            </a:outerShdw>
          </a:effectLst>
        </p:spPr>
      </p:sp>
      <p:sp>
        <p:nvSpPr>
          <p:cNvPr id="21" name="Shape 15"/>
          <p:cNvSpPr/>
          <p:nvPr/>
        </p:nvSpPr>
        <p:spPr>
          <a:xfrm>
            <a:off x="4809744" y="3127248"/>
            <a:ext cx="502920" cy="502920"/>
          </a:xfrm>
          <a:prstGeom prst="ellipse">
            <a:avLst/>
          </a:prstGeom>
          <a:solidFill>
            <a:srgbClr val="1C7293"/>
          </a:solidFill>
          <a:ln/>
        </p:spPr>
      </p:sp>
      <p:pic>
        <p:nvPicPr>
          <p:cNvPr id="22" name="Image 4" descr="preencoded.png"/>
          <p:cNvPicPr>
            <a:picLocks noChangeAspect="1"/>
          </p:cNvPicPr>
          <p:nvPr/>
        </p:nvPicPr>
        <p:blipFill>
          <a:blip r:embed="rId7"/>
          <a:stretch>
            <a:fillRect/>
          </a:stretch>
        </p:blipFill>
        <p:spPr>
          <a:xfrm>
            <a:off x="4935474" y="3252978"/>
            <a:ext cx="251460" cy="251460"/>
          </a:xfrm>
          <a:prstGeom prst="rect">
            <a:avLst/>
          </a:prstGeom>
        </p:spPr>
      </p:pic>
      <p:sp>
        <p:nvSpPr>
          <p:cNvPr id="23" name="Text 16"/>
          <p:cNvSpPr/>
          <p:nvPr/>
        </p:nvSpPr>
        <p:spPr>
          <a:xfrm>
            <a:off x="5468112" y="3127248"/>
            <a:ext cx="274320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Gets blocked</a:t>
            </a:r>
            <a:endParaRPr lang="en-US" sz="1650" dirty="0"/>
          </a:p>
        </p:txBody>
      </p:sp>
      <p:sp>
        <p:nvSpPr>
          <p:cNvPr id="24" name="Text 17"/>
          <p:cNvSpPr/>
          <p:nvPr/>
        </p:nvSpPr>
        <p:spPr>
          <a:xfrm>
            <a:off x="4828032" y="3730752"/>
            <a:ext cx="3328416" cy="40233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Terrain near the radar clips the beam and shadows everything downrange of it.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Why it matters</a:t>
            </a:r>
            <a:endParaRPr lang="en-US" sz="2700" dirty="0"/>
          </a:p>
        </p:txBody>
      </p:sp>
      <p:sp>
        <p:nvSpPr>
          <p:cNvPr id="5" name="Shape 2"/>
          <p:cNvSpPr/>
          <p:nvPr/>
        </p:nvSpPr>
        <p:spPr>
          <a:xfrm>
            <a:off x="548640" y="1371600"/>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577340"/>
            <a:ext cx="502920" cy="502920"/>
          </a:xfrm>
          <a:prstGeom prst="ellipse">
            <a:avLst/>
          </a:prstGeom>
          <a:solidFill>
            <a:srgbClr val="1C7293"/>
          </a:solidFill>
          <a:ln/>
        </p:spPr>
      </p:sp>
      <p:pic>
        <p:nvPicPr>
          <p:cNvPr id="7" name="Image 1" descr="preencoded.png"/>
          <p:cNvPicPr>
            <a:picLocks noChangeAspect="1"/>
          </p:cNvPicPr>
          <p:nvPr/>
        </p:nvPicPr>
        <p:blipFill>
          <a:blip r:embed="rId4"/>
          <a:stretch>
            <a:fillRect/>
          </a:stretch>
        </p:blipFill>
        <p:spPr>
          <a:xfrm>
            <a:off x="912114" y="1703070"/>
            <a:ext cx="251460" cy="251460"/>
          </a:xfrm>
          <a:prstGeom prst="rect">
            <a:avLst/>
          </a:prstGeom>
        </p:spPr>
      </p:pic>
      <p:sp>
        <p:nvSpPr>
          <p:cNvPr id="8" name="Text 4"/>
          <p:cNvSpPr/>
          <p:nvPr/>
        </p:nvSpPr>
        <p:spPr>
          <a:xfrm>
            <a:off x="1481328" y="1499616"/>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Overshooting</a:t>
            </a:r>
            <a:endParaRPr lang="en-US" sz="1600" dirty="0"/>
          </a:p>
        </p:txBody>
      </p:sp>
      <p:sp>
        <p:nvSpPr>
          <p:cNvPr id="9" name="Text 5"/>
          <p:cNvSpPr/>
          <p:nvPr/>
        </p:nvSpPr>
        <p:spPr>
          <a:xfrm>
            <a:off x="1481328" y="1801368"/>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Beyond ~150 km the lowest beam is kilometres up — shallow rain and snow slip underneath unseen.</a:t>
            </a:r>
            <a:endParaRPr lang="en-US" sz="1250" dirty="0"/>
          </a:p>
        </p:txBody>
      </p:sp>
      <p:sp>
        <p:nvSpPr>
          <p:cNvPr id="10" name="Shape 6"/>
          <p:cNvSpPr/>
          <p:nvPr/>
        </p:nvSpPr>
        <p:spPr>
          <a:xfrm>
            <a:off x="548640" y="2395728"/>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786384" y="2601468"/>
            <a:ext cx="502920" cy="502920"/>
          </a:xfrm>
          <a:prstGeom prst="ellipse">
            <a:avLst/>
          </a:prstGeom>
          <a:solidFill>
            <a:srgbClr val="1C7293"/>
          </a:solidFill>
          <a:ln/>
        </p:spPr>
      </p:sp>
      <p:pic>
        <p:nvPicPr>
          <p:cNvPr id="12" name="Image 2" descr="preencoded.png"/>
          <p:cNvPicPr>
            <a:picLocks noChangeAspect="1"/>
          </p:cNvPicPr>
          <p:nvPr/>
        </p:nvPicPr>
        <p:blipFill>
          <a:blip r:embed="rId5"/>
          <a:stretch>
            <a:fillRect/>
          </a:stretch>
        </p:blipFill>
        <p:spPr>
          <a:xfrm>
            <a:off x="912114" y="2727198"/>
            <a:ext cx="251460" cy="251460"/>
          </a:xfrm>
          <a:prstGeom prst="rect">
            <a:avLst/>
          </a:prstGeom>
        </p:spPr>
      </p:pic>
      <p:sp>
        <p:nvSpPr>
          <p:cNvPr id="13" name="Text 8"/>
          <p:cNvSpPr/>
          <p:nvPr/>
        </p:nvSpPr>
        <p:spPr>
          <a:xfrm>
            <a:off x="1481328" y="2523744"/>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False echoes</a:t>
            </a:r>
            <a:endParaRPr lang="en-US" sz="1600" dirty="0"/>
          </a:p>
        </p:txBody>
      </p:sp>
      <p:sp>
        <p:nvSpPr>
          <p:cNvPr id="14" name="Text 9"/>
          <p:cNvSpPr/>
          <p:nvPr/>
        </p:nvSpPr>
        <p:spPr>
          <a:xfrm>
            <a:off x="1481328" y="2825496"/>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Night-time ducting bends the beam into the ground: clutter appears where there is no weather.</a:t>
            </a:r>
            <a:endParaRPr lang="en-US" sz="1250" dirty="0"/>
          </a:p>
        </p:txBody>
      </p:sp>
      <p:sp>
        <p:nvSpPr>
          <p:cNvPr id="15" name="Shape 10"/>
          <p:cNvSpPr/>
          <p:nvPr/>
        </p:nvSpPr>
        <p:spPr>
          <a:xfrm>
            <a:off x="548640" y="3419856"/>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16" name="Shape 11"/>
          <p:cNvSpPr/>
          <p:nvPr/>
        </p:nvSpPr>
        <p:spPr>
          <a:xfrm>
            <a:off x="786384" y="3625596"/>
            <a:ext cx="502920" cy="502920"/>
          </a:xfrm>
          <a:prstGeom prst="ellipse">
            <a:avLst/>
          </a:prstGeom>
          <a:solidFill>
            <a:srgbClr val="1C7293"/>
          </a:solidFill>
          <a:ln/>
        </p:spPr>
      </p:sp>
      <p:pic>
        <p:nvPicPr>
          <p:cNvPr id="17" name="Image 3" descr="preencoded.png"/>
          <p:cNvPicPr>
            <a:picLocks noChangeAspect="1"/>
          </p:cNvPicPr>
          <p:nvPr/>
        </p:nvPicPr>
        <p:blipFill>
          <a:blip r:embed="rId3"/>
          <a:stretch>
            <a:fillRect/>
          </a:stretch>
        </p:blipFill>
        <p:spPr>
          <a:xfrm>
            <a:off x="912114" y="3751326"/>
            <a:ext cx="251460" cy="251460"/>
          </a:xfrm>
          <a:prstGeom prst="rect">
            <a:avLst/>
          </a:prstGeom>
        </p:spPr>
      </p:pic>
      <p:sp>
        <p:nvSpPr>
          <p:cNvPr id="18" name="Text 12"/>
          <p:cNvSpPr/>
          <p:nvPr/>
        </p:nvSpPr>
        <p:spPr>
          <a:xfrm>
            <a:off x="1481328" y="3547872"/>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Terrain wedges</a:t>
            </a:r>
            <a:endParaRPr lang="en-US" sz="1600" dirty="0"/>
          </a:p>
        </p:txBody>
      </p:sp>
      <p:sp>
        <p:nvSpPr>
          <p:cNvPr id="19" name="Text 13"/>
          <p:cNvSpPr/>
          <p:nvPr/>
        </p:nvSpPr>
        <p:spPr>
          <a:xfrm>
            <a:off x="1481328" y="3849624"/>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Blocked azimuths read low or empty — not because the rain is absent.</a:t>
            </a:r>
            <a:endParaRPr lang="en-US" sz="1250" dirty="0"/>
          </a:p>
        </p:txBody>
      </p:sp>
      <p:sp>
        <p:nvSpPr>
          <p:cNvPr id="20" name="Shape 14"/>
          <p:cNvSpPr/>
          <p:nvPr/>
        </p:nvSpPr>
        <p:spPr>
          <a:xfrm>
            <a:off x="548640" y="4498848"/>
            <a:ext cx="8046720" cy="548640"/>
          </a:xfrm>
          <a:prstGeom prst="roundRect">
            <a:avLst>
              <a:gd name="adj" fmla="val 15000"/>
            </a:avLst>
          </a:prstGeom>
          <a:solidFill>
            <a:srgbClr val="FBEFD7"/>
          </a:solidFill>
          <a:ln/>
          <a:effectLst>
            <a:outerShdw blurRad="88900" dist="38100" dir="5400000" algn="bl" rotWithShape="0">
              <a:srgbClr val="1A2433">
                <a:alpha val="16000"/>
              </a:srgbClr>
            </a:outerShdw>
          </a:effectLst>
        </p:spPr>
      </p:sp>
      <p:sp>
        <p:nvSpPr>
          <p:cNvPr id="21" name="Text 15"/>
          <p:cNvSpPr/>
          <p:nvPr/>
        </p:nvSpPr>
        <p:spPr>
          <a:xfrm>
            <a:off x="822960" y="4498848"/>
            <a:ext cx="7498080" cy="548640"/>
          </a:xfrm>
          <a:prstGeom prst="rect">
            <a:avLst/>
          </a:prstGeom>
          <a:noFill/>
          <a:ln/>
        </p:spPr>
        <p:txBody>
          <a:bodyPr wrap="square" lIns="0" tIns="0" rIns="0" bIns="0" rtlCol="0" anchor="ctr"/>
          <a:lstStyle/>
          <a:p>
            <a:pPr marL="0" indent="0" algn="ctr">
              <a:buNone/>
            </a:pPr>
            <a:r>
              <a:rPr lang="en-US" sz="1800" b="1" i="1" dirty="0">
                <a:solidFill>
                  <a:srgbClr val="9A6A12"/>
                </a:solidFill>
                <a:latin typeface="Cambria" pitchFamily="34" charset="0"/>
                <a:ea typeface="Cambria" pitchFamily="34" charset="-122"/>
                <a:cs typeface="Cambria" pitchFamily="34" charset="-120"/>
              </a:rPr>
              <a:t>“No echo” is not the same as “no weather.”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What you'll do</a:t>
            </a:r>
            <a:endParaRPr lang="en-US" sz="2700" dirty="0"/>
          </a:p>
        </p:txBody>
      </p:sp>
      <p:sp>
        <p:nvSpPr>
          <p:cNvPr id="5" name="Shape 2"/>
          <p:cNvSpPr/>
          <p:nvPr/>
        </p:nvSpPr>
        <p:spPr>
          <a:xfrm>
            <a:off x="548640" y="1371600"/>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577340"/>
            <a:ext cx="502920" cy="502920"/>
          </a:xfrm>
          <a:prstGeom prst="ellipse">
            <a:avLst/>
          </a:prstGeom>
          <a:solidFill>
            <a:srgbClr val="1C7293"/>
          </a:solidFill>
          <a:ln/>
        </p:spPr>
      </p:sp>
      <p:pic>
        <p:nvPicPr>
          <p:cNvPr id="7" name="Image 1" descr="preencoded.png"/>
          <p:cNvPicPr>
            <a:picLocks noChangeAspect="1"/>
          </p:cNvPicPr>
          <p:nvPr/>
        </p:nvPicPr>
        <p:blipFill>
          <a:blip r:embed="rId3"/>
          <a:stretch>
            <a:fillRect/>
          </a:stretch>
        </p:blipFill>
        <p:spPr>
          <a:xfrm>
            <a:off x="912114" y="1703070"/>
            <a:ext cx="251460" cy="251460"/>
          </a:xfrm>
          <a:prstGeom prst="rect">
            <a:avLst/>
          </a:prstGeom>
        </p:spPr>
      </p:pic>
      <p:sp>
        <p:nvSpPr>
          <p:cNvPr id="8" name="Text 4"/>
          <p:cNvSpPr/>
          <p:nvPr/>
        </p:nvSpPr>
        <p:spPr>
          <a:xfrm>
            <a:off x="1481328" y="1499616"/>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Four widgets</a:t>
            </a:r>
            <a:endParaRPr lang="en-US" sz="1600" dirty="0"/>
          </a:p>
        </p:txBody>
      </p:sp>
      <p:sp>
        <p:nvSpPr>
          <p:cNvPr id="9" name="Text 5"/>
          <p:cNvSpPr/>
          <p:nvPr/>
        </p:nvSpPr>
        <p:spPr>
          <a:xfrm>
            <a:off x="1481328" y="1801368"/>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Beamwidth · beam height &amp; refraction · anomalous propagation · terrain blockage.</a:t>
            </a:r>
            <a:endParaRPr lang="en-US" sz="1250" dirty="0"/>
          </a:p>
        </p:txBody>
      </p:sp>
      <p:sp>
        <p:nvSpPr>
          <p:cNvPr id="10" name="Shape 6"/>
          <p:cNvSpPr/>
          <p:nvPr/>
        </p:nvSpPr>
        <p:spPr>
          <a:xfrm>
            <a:off x="548640" y="2395728"/>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786384" y="2601468"/>
            <a:ext cx="502920" cy="502920"/>
          </a:xfrm>
          <a:prstGeom prst="ellipse">
            <a:avLst/>
          </a:prstGeom>
          <a:solidFill>
            <a:srgbClr val="1C7293"/>
          </a:solidFill>
          <a:ln/>
        </p:spPr>
      </p:sp>
      <p:pic>
        <p:nvPicPr>
          <p:cNvPr id="12" name="Image 2" descr="preencoded.png"/>
          <p:cNvPicPr>
            <a:picLocks noChangeAspect="1"/>
          </p:cNvPicPr>
          <p:nvPr/>
        </p:nvPicPr>
        <p:blipFill>
          <a:blip r:embed="rId4"/>
          <a:stretch>
            <a:fillRect/>
          </a:stretch>
        </p:blipFill>
        <p:spPr>
          <a:xfrm>
            <a:off x="912114" y="2727198"/>
            <a:ext cx="251460" cy="251460"/>
          </a:xfrm>
          <a:prstGeom prst="rect">
            <a:avLst/>
          </a:prstGeom>
        </p:spPr>
      </p:pic>
      <p:sp>
        <p:nvSpPr>
          <p:cNvPr id="13" name="Text 8"/>
          <p:cNvSpPr/>
          <p:nvPr/>
        </p:nvSpPr>
        <p:spPr>
          <a:xfrm>
            <a:off x="1481328" y="2523744"/>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Real data</a:t>
            </a:r>
            <a:endParaRPr lang="en-US" sz="1600" dirty="0"/>
          </a:p>
        </p:txBody>
      </p:sp>
      <p:sp>
        <p:nvSpPr>
          <p:cNvPr id="14" name="Text 9"/>
          <p:cNvSpPr/>
          <p:nvPr/>
        </p:nvSpPr>
        <p:spPr>
          <a:xfrm>
            <a:off x="1481328" y="2825496"/>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KNKX (San Diego) — four elevation tilts of a partially blocked scan; separate real weather from terrain.</a:t>
            </a:r>
            <a:endParaRPr lang="en-US" sz="1250" dirty="0"/>
          </a:p>
        </p:txBody>
      </p:sp>
      <p:sp>
        <p:nvSpPr>
          <p:cNvPr id="15" name="Shape 10"/>
          <p:cNvSpPr/>
          <p:nvPr/>
        </p:nvSpPr>
        <p:spPr>
          <a:xfrm>
            <a:off x="548640" y="3529584"/>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sp>
      <p:sp>
        <p:nvSpPr>
          <p:cNvPr id="16" name="Shape 11"/>
          <p:cNvSpPr/>
          <p:nvPr/>
        </p:nvSpPr>
        <p:spPr>
          <a:xfrm>
            <a:off x="822960" y="3712464"/>
            <a:ext cx="548640" cy="548640"/>
          </a:xfrm>
          <a:prstGeom prst="ellipse">
            <a:avLst/>
          </a:prstGeom>
          <a:solidFill>
            <a:srgbClr val="E0A33E"/>
          </a:solidFill>
          <a:ln/>
        </p:spPr>
      </p:sp>
      <p:pic>
        <p:nvPicPr>
          <p:cNvPr id="17" name="Image 3" descr="preencoded.png"/>
          <p:cNvPicPr>
            <a:picLocks noChangeAspect="1"/>
          </p:cNvPicPr>
          <p:nvPr/>
        </p:nvPicPr>
        <p:blipFill>
          <a:blip r:embed="rId5"/>
          <a:stretch>
            <a:fillRect/>
          </a:stretch>
        </p:blipFill>
        <p:spPr>
          <a:xfrm>
            <a:off x="960120" y="3849624"/>
            <a:ext cx="274320" cy="274320"/>
          </a:xfrm>
          <a:prstGeom prst="rect">
            <a:avLst/>
          </a:prstGeom>
        </p:spPr>
      </p:pic>
      <p:sp>
        <p:nvSpPr>
          <p:cNvPr id="18" name="Text 12"/>
          <p:cNvSpPr/>
          <p:nvPr/>
        </p:nvSpPr>
        <p:spPr>
          <a:xfrm>
            <a:off x="1572768" y="3675888"/>
            <a:ext cx="6748272" cy="621792"/>
          </a:xfrm>
          <a:prstGeom prst="rect">
            <a:avLst/>
          </a:prstGeom>
          <a:noFill/>
          <a:ln/>
        </p:spPr>
        <p:txBody>
          <a:bodyPr wrap="square" lIns="0" tIns="0" rIns="0" bIns="0" rtlCol="0" anchor="ctr"/>
          <a:lstStyle/>
          <a:p>
            <a:pPr marL="0" indent="0">
              <a:buNone/>
            </a:pPr>
            <a:r>
              <a:rPr lang="en-US" sz="1050" b="1" kern="0" spc="200" dirty="0">
                <a:solidFill>
                  <a:srgbClr val="E0A33E"/>
                </a:solidFill>
                <a:latin typeface="Calibri" pitchFamily="34" charset="0"/>
                <a:ea typeface="Calibri" pitchFamily="34" charset="-122"/>
                <a:cs typeface="Calibri" pitchFamily="34" charset="-120"/>
              </a:rPr>
              <a:t>TAKEAWAY</a:t>
            </a:r>
            <a:endParaRPr lang="en-US" sz="1050" dirty="0"/>
          </a:p>
          <a:p>
            <a:pPr marL="0" indent="0">
              <a:buNone/>
            </a:pPr>
            <a:r>
              <a:rPr lang="en-US" sz="1350" dirty="0">
                <a:solidFill>
                  <a:srgbClr val="FFFFFF"/>
                </a:solidFill>
                <a:latin typeface="Calibri" pitchFamily="34" charset="0"/>
                <a:ea typeface="Calibri" pitchFamily="34" charset="-122"/>
                <a:cs typeface="Calibri" pitchFamily="34" charset="-120"/>
              </a:rPr>
              <a:t>A measurement is a beam of finite width that climbs, bends, and can be clipped — so “no echo” ≠ “no weather.”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389888" y="5364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Discussion</a:t>
            </a:r>
            <a:endParaRPr lang="en-US" sz="2700" dirty="0"/>
          </a:p>
        </p:txBody>
      </p:sp>
      <p:sp>
        <p:nvSpPr>
          <p:cNvPr id="15" name="Shape 10"/>
          <p:cNvSpPr/>
          <p:nvPr/>
        </p:nvSpPr>
        <p:spPr>
          <a:xfrm>
            <a:off x="566928" y="1501439"/>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sp>
      <p:sp>
        <p:nvSpPr>
          <p:cNvPr id="16" name="Shape 11"/>
          <p:cNvSpPr/>
          <p:nvPr/>
        </p:nvSpPr>
        <p:spPr>
          <a:xfrm>
            <a:off x="841248" y="1684319"/>
            <a:ext cx="548640" cy="548640"/>
          </a:xfrm>
          <a:prstGeom prst="ellipse">
            <a:avLst/>
          </a:prstGeom>
          <a:solidFill>
            <a:srgbClr val="E0A33E"/>
          </a:solidFill>
          <a:ln/>
        </p:spPr>
      </p:sp>
      <p:pic>
        <p:nvPicPr>
          <p:cNvPr id="17" name="Image 3" descr="preencoded.png"/>
          <p:cNvPicPr>
            <a:picLocks noChangeAspect="1"/>
          </p:cNvPicPr>
          <p:nvPr/>
        </p:nvPicPr>
        <p:blipFill>
          <a:blip r:embed="rId4"/>
          <a:stretch>
            <a:fillRect/>
          </a:stretch>
        </p:blipFill>
        <p:spPr>
          <a:xfrm>
            <a:off x="982092" y="1821479"/>
            <a:ext cx="274320" cy="274320"/>
          </a:xfrm>
          <a:prstGeom prst="rect">
            <a:avLst/>
          </a:prstGeom>
        </p:spPr>
      </p:pic>
      <p:sp>
        <p:nvSpPr>
          <p:cNvPr id="18" name="Text 12"/>
          <p:cNvSpPr/>
          <p:nvPr/>
        </p:nvSpPr>
        <p:spPr>
          <a:xfrm>
            <a:off x="1591056" y="1647743"/>
            <a:ext cx="6748272" cy="62179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A colleague points at a radar image and says "there's no rain over that area." After this block, what would you want to check before agreeing — and what are the different reasons the radar might show nothing where rain is actually falling? </a:t>
            </a:r>
            <a:endParaRPr lang="en-US" sz="1050" dirty="0"/>
          </a:p>
        </p:txBody>
      </p:sp>
      <p:sp>
        <p:nvSpPr>
          <p:cNvPr id="20" name="Shape 10">
            <a:extLst>
              <a:ext uri="{FF2B5EF4-FFF2-40B4-BE49-F238E27FC236}">
                <a16:creationId xmlns:a16="http://schemas.microsoft.com/office/drawing/2014/main" id="{553835F5-CBAE-4139-ABE4-1BC5618DEE3F}"/>
              </a:ext>
            </a:extLst>
          </p:cNvPr>
          <p:cNvSpPr/>
          <p:nvPr/>
        </p:nvSpPr>
        <p:spPr>
          <a:xfrm>
            <a:off x="566928" y="2598719"/>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sp>
      <p:sp>
        <p:nvSpPr>
          <p:cNvPr id="21" name="Shape 11">
            <a:extLst>
              <a:ext uri="{FF2B5EF4-FFF2-40B4-BE49-F238E27FC236}">
                <a16:creationId xmlns:a16="http://schemas.microsoft.com/office/drawing/2014/main" id="{1D387E5A-61F7-455A-9909-5E3BDA8A1FE8}"/>
              </a:ext>
            </a:extLst>
          </p:cNvPr>
          <p:cNvSpPr/>
          <p:nvPr/>
        </p:nvSpPr>
        <p:spPr>
          <a:xfrm>
            <a:off x="841248" y="2781599"/>
            <a:ext cx="548640" cy="548640"/>
          </a:xfrm>
          <a:prstGeom prst="ellipse">
            <a:avLst/>
          </a:prstGeom>
          <a:solidFill>
            <a:srgbClr val="E0A33E"/>
          </a:solidFill>
          <a:ln/>
        </p:spPr>
      </p:sp>
      <p:pic>
        <p:nvPicPr>
          <p:cNvPr id="22" name="Image 3" descr="preencoded.png">
            <a:extLst>
              <a:ext uri="{FF2B5EF4-FFF2-40B4-BE49-F238E27FC236}">
                <a16:creationId xmlns:a16="http://schemas.microsoft.com/office/drawing/2014/main" id="{01390C2A-10F8-442C-9DD5-7526707658FD}"/>
              </a:ext>
            </a:extLst>
          </p:cNvPr>
          <p:cNvPicPr>
            <a:picLocks noChangeAspect="1"/>
          </p:cNvPicPr>
          <p:nvPr/>
        </p:nvPicPr>
        <p:blipFill>
          <a:blip r:embed="rId4"/>
          <a:stretch>
            <a:fillRect/>
          </a:stretch>
        </p:blipFill>
        <p:spPr>
          <a:xfrm>
            <a:off x="982092" y="2918759"/>
            <a:ext cx="274320" cy="274320"/>
          </a:xfrm>
          <a:prstGeom prst="rect">
            <a:avLst/>
          </a:prstGeom>
        </p:spPr>
      </p:pic>
      <p:sp>
        <p:nvSpPr>
          <p:cNvPr id="23" name="Text 12">
            <a:extLst>
              <a:ext uri="{FF2B5EF4-FFF2-40B4-BE49-F238E27FC236}">
                <a16:creationId xmlns:a16="http://schemas.microsoft.com/office/drawing/2014/main" id="{1C1E7AF8-3806-4285-97E7-4475CBB908FD}"/>
              </a:ext>
            </a:extLst>
          </p:cNvPr>
          <p:cNvSpPr/>
          <p:nvPr/>
        </p:nvSpPr>
        <p:spPr>
          <a:xfrm>
            <a:off x="1591056" y="2745023"/>
            <a:ext cx="6748272" cy="62179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If you could only see one elevation tilt of a storm, would you rather it be the lowest or a higher one — and what would you gain and lose either way?</a:t>
            </a:r>
            <a:endParaRPr lang="en-US" sz="1050" dirty="0"/>
          </a:p>
        </p:txBody>
      </p:sp>
      <p:sp>
        <p:nvSpPr>
          <p:cNvPr id="24" name="Shape 0">
            <a:extLst>
              <a:ext uri="{FF2B5EF4-FFF2-40B4-BE49-F238E27FC236}">
                <a16:creationId xmlns:a16="http://schemas.microsoft.com/office/drawing/2014/main" id="{46DD00A4-40F3-4367-8458-B08BAB039F83}"/>
              </a:ext>
            </a:extLst>
          </p:cNvPr>
          <p:cNvSpPr/>
          <p:nvPr/>
        </p:nvSpPr>
        <p:spPr>
          <a:xfrm>
            <a:off x="701040" y="536448"/>
            <a:ext cx="566928" cy="566928"/>
          </a:xfrm>
          <a:prstGeom prst="ellipse">
            <a:avLst/>
          </a:prstGeom>
          <a:solidFill>
            <a:srgbClr val="1C7293"/>
          </a:solidFill>
          <a:ln/>
        </p:spPr>
      </p:sp>
      <p:pic>
        <p:nvPicPr>
          <p:cNvPr id="25" name="Image 0" descr="preencoded.png">
            <a:extLst>
              <a:ext uri="{FF2B5EF4-FFF2-40B4-BE49-F238E27FC236}">
                <a16:creationId xmlns:a16="http://schemas.microsoft.com/office/drawing/2014/main" id="{299851C2-A12B-4B36-A5EF-F1FEEE11F9C7}"/>
              </a:ext>
            </a:extLst>
          </p:cNvPr>
          <p:cNvPicPr>
            <a:picLocks noChangeAspect="1"/>
          </p:cNvPicPr>
          <p:nvPr/>
        </p:nvPicPr>
        <p:blipFill>
          <a:blip r:embed="rId3"/>
          <a:stretch>
            <a:fillRect/>
          </a:stretch>
        </p:blipFill>
        <p:spPr>
          <a:xfrm>
            <a:off x="842772" y="678180"/>
            <a:ext cx="283464" cy="283464"/>
          </a:xfrm>
          <a:prstGeom prst="rect">
            <a:avLst/>
          </a:prstGeom>
        </p:spPr>
      </p:pic>
    </p:spTree>
    <p:extLst>
      <p:ext uri="{BB962C8B-B14F-4D97-AF65-F5344CB8AC3E}">
        <p14:creationId xmlns:p14="http://schemas.microsoft.com/office/powerpoint/2010/main" val="844558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E2A47"/>
        </a:solidFill>
        <a:effectLst/>
      </p:bgPr>
    </p:bg>
    <p:spTree>
      <p:nvGrpSpPr>
        <p:cNvPr id="1" name=""/>
        <p:cNvGrpSpPr/>
        <p:nvPr/>
      </p:nvGrpSpPr>
      <p:grpSpPr>
        <a:xfrm>
          <a:off x="0" y="0"/>
          <a:ext cx="0" cy="0"/>
          <a:chOff x="0" y="0"/>
          <a:chExt cx="0" cy="0"/>
        </a:xfrm>
      </p:grpSpPr>
      <p:sp>
        <p:nvSpPr>
          <p:cNvPr id="2" name="Text 0"/>
          <p:cNvSpPr/>
          <p:nvPr/>
        </p:nvSpPr>
        <p:spPr>
          <a:xfrm>
            <a:off x="5486400" y="-320040"/>
            <a:ext cx="3566160" cy="3108960"/>
          </a:xfrm>
          <a:prstGeom prst="rect">
            <a:avLst/>
          </a:prstGeom>
          <a:noFill/>
          <a:ln/>
        </p:spPr>
        <p:txBody>
          <a:bodyPr wrap="square" lIns="0" tIns="0" rIns="0" bIns="0" rtlCol="0" anchor="t"/>
          <a:lstStyle/>
          <a:p>
            <a:pPr marL="0" indent="0" algn="r">
              <a:buNone/>
            </a:pPr>
            <a:r>
              <a:rPr lang="en-US" sz="20000" b="1" dirty="0">
                <a:solidFill>
                  <a:srgbClr val="183B5E"/>
                </a:solidFill>
                <a:latin typeface="Cambria" pitchFamily="34" charset="0"/>
                <a:ea typeface="Cambria" pitchFamily="34" charset="-122"/>
                <a:cs typeface="Cambria" pitchFamily="34" charset="-120"/>
              </a:rPr>
              <a:t>02</a:t>
            </a:r>
            <a:endParaRPr lang="en-US" sz="20000" dirty="0"/>
          </a:p>
        </p:txBody>
      </p:sp>
      <p:sp>
        <p:nvSpPr>
          <p:cNvPr id="3" name="Shape 1"/>
          <p:cNvSpPr/>
          <p:nvPr/>
        </p:nvSpPr>
        <p:spPr>
          <a:xfrm>
            <a:off x="640080" y="731520"/>
            <a:ext cx="914400" cy="914400"/>
          </a:xfrm>
          <a:prstGeom prst="ellipse">
            <a:avLst/>
          </a:prstGeom>
          <a:solidFill>
            <a:srgbClr val="E0A33E"/>
          </a:solidFill>
          <a:ln/>
        </p:spPr>
      </p:sp>
      <p:pic>
        <p:nvPicPr>
          <p:cNvPr id="4" name="Image 0" descr="preencoded.png"/>
          <p:cNvPicPr>
            <a:picLocks noChangeAspect="1"/>
          </p:cNvPicPr>
          <p:nvPr/>
        </p:nvPicPr>
        <p:blipFill>
          <a:blip r:embed="rId3"/>
          <a:stretch>
            <a:fillRect/>
          </a:stretch>
        </p:blipFill>
        <p:spPr>
          <a:xfrm>
            <a:off x="868680" y="960120"/>
            <a:ext cx="457200" cy="457200"/>
          </a:xfrm>
          <a:prstGeom prst="rect">
            <a:avLst/>
          </a:prstGeom>
        </p:spPr>
      </p:pic>
      <p:sp>
        <p:nvSpPr>
          <p:cNvPr id="5" name="Text 2"/>
          <p:cNvSpPr/>
          <p:nvPr/>
        </p:nvSpPr>
        <p:spPr>
          <a:xfrm>
            <a:off x="676656" y="1810512"/>
            <a:ext cx="4572000" cy="365760"/>
          </a:xfrm>
          <a:prstGeom prst="rect">
            <a:avLst/>
          </a:prstGeom>
          <a:noFill/>
          <a:ln/>
        </p:spPr>
        <p:txBody>
          <a:bodyPr wrap="square" lIns="0" tIns="0" rIns="0" bIns="0" rtlCol="0" anchor="ctr"/>
          <a:lstStyle/>
          <a:p>
            <a:pPr marL="0" indent="0">
              <a:buNone/>
            </a:pPr>
            <a:r>
              <a:rPr lang="en-US" sz="1400" b="1" kern="0" spc="300" dirty="0">
                <a:solidFill>
                  <a:srgbClr val="E0A33E"/>
                </a:solidFill>
                <a:latin typeface="Calibri" pitchFamily="34" charset="0"/>
                <a:ea typeface="Calibri" pitchFamily="34" charset="-122"/>
                <a:cs typeface="Calibri" pitchFamily="34" charset="-120"/>
              </a:rPr>
              <a:t>BLOCK 02</a:t>
            </a:r>
            <a:endParaRPr lang="en-US" sz="1400" dirty="0"/>
          </a:p>
        </p:txBody>
      </p:sp>
      <p:sp>
        <p:nvSpPr>
          <p:cNvPr id="6" name="Text 3"/>
          <p:cNvSpPr/>
          <p:nvPr/>
        </p:nvSpPr>
        <p:spPr>
          <a:xfrm>
            <a:off x="621792" y="2121408"/>
            <a:ext cx="7955280" cy="9144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One measurement</a:t>
            </a:r>
            <a:endParaRPr lang="en-US" sz="4000" dirty="0"/>
          </a:p>
        </p:txBody>
      </p:sp>
      <p:sp>
        <p:nvSpPr>
          <p:cNvPr id="7" name="Text 4"/>
          <p:cNvSpPr/>
          <p:nvPr/>
        </p:nvSpPr>
        <p:spPr>
          <a:xfrm>
            <a:off x="658368" y="3127248"/>
            <a:ext cx="7955280" cy="502920"/>
          </a:xfrm>
          <a:prstGeom prst="rect">
            <a:avLst/>
          </a:prstGeom>
          <a:noFill/>
          <a:ln/>
        </p:spPr>
        <p:txBody>
          <a:bodyPr wrap="square" lIns="0" tIns="0" rIns="0" bIns="0" rtlCol="0" anchor="ctr"/>
          <a:lstStyle/>
          <a:p>
            <a:pPr marL="0" indent="0">
              <a:buNone/>
            </a:pPr>
            <a:r>
              <a:rPr lang="en-US" sz="1800" i="1" dirty="0">
                <a:solidFill>
                  <a:srgbClr val="A9CBD8"/>
                </a:solidFill>
                <a:latin typeface="Cambria" pitchFamily="34" charset="0"/>
                <a:ea typeface="Cambria" pitchFamily="34" charset="-122"/>
                <a:cs typeface="Cambria" pitchFamily="34" charset="-120"/>
              </a:rPr>
              <a:t>How big is a single radar value — and can the radar even detect it?</a:t>
            </a:r>
            <a:endParaRPr lang="en-US" sz="1800" dirty="0"/>
          </a:p>
        </p:txBody>
      </p:sp>
      <p:sp>
        <p:nvSpPr>
          <p:cNvPr id="8" name="Text 5"/>
          <p:cNvSpPr/>
          <p:nvPr/>
        </p:nvSpPr>
        <p:spPr>
          <a:xfrm>
            <a:off x="658368" y="3822192"/>
            <a:ext cx="7955280" cy="822960"/>
          </a:xfrm>
          <a:prstGeom prst="rect">
            <a:avLst/>
          </a:prstGeom>
          <a:noFill/>
          <a:ln/>
        </p:spPr>
        <p:txBody>
          <a:bodyPr wrap="square" lIns="0" tIns="0" rIns="0" bIns="0" rtlCol="0" anchor="t"/>
          <a:lstStyle/>
          <a:p>
            <a:pPr marL="0" indent="0">
              <a:buNone/>
            </a:pPr>
            <a:r>
              <a:rPr lang="en-US" sz="1500" dirty="0">
                <a:solidFill>
                  <a:srgbClr val="DCE7EE"/>
                </a:solidFill>
                <a:latin typeface="Calibri" pitchFamily="34" charset="0"/>
                <a:ea typeface="Calibri" pitchFamily="34" charset="-122"/>
                <a:cs typeface="Calibri" pitchFamily="34" charset="-120"/>
              </a:rPr>
              <a:t>One pixel on the screen is a chunk of air, not a point.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A pixel is a volume average</a:t>
            </a:r>
            <a:endParaRPr lang="en-US" sz="2700" dirty="0"/>
          </a:p>
        </p:txBody>
      </p:sp>
      <p:sp>
        <p:nvSpPr>
          <p:cNvPr id="5" name="Shape 2"/>
          <p:cNvSpPr/>
          <p:nvPr/>
        </p:nvSpPr>
        <p:spPr>
          <a:xfrm>
            <a:off x="548640" y="1554480"/>
            <a:ext cx="4297680" cy="960120"/>
          </a:xfrm>
          <a:prstGeom prst="roundRect">
            <a:avLst>
              <a:gd name="adj" fmla="val 7619"/>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783080"/>
            <a:ext cx="502920" cy="502920"/>
          </a:xfrm>
          <a:prstGeom prst="ellipse">
            <a:avLst/>
          </a:prstGeom>
          <a:solidFill>
            <a:srgbClr val="1C7293"/>
          </a:solidFill>
          <a:ln/>
        </p:spPr>
      </p:sp>
      <p:pic>
        <p:nvPicPr>
          <p:cNvPr id="7" name="Image 1" descr="preencoded.png"/>
          <p:cNvPicPr>
            <a:picLocks noChangeAspect="1"/>
          </p:cNvPicPr>
          <p:nvPr/>
        </p:nvPicPr>
        <p:blipFill>
          <a:blip r:embed="rId4"/>
          <a:stretch>
            <a:fillRect/>
          </a:stretch>
        </p:blipFill>
        <p:spPr>
          <a:xfrm>
            <a:off x="912114" y="1908810"/>
            <a:ext cx="251460" cy="251460"/>
          </a:xfrm>
          <a:prstGeom prst="rect">
            <a:avLst/>
          </a:prstGeom>
        </p:spPr>
      </p:pic>
      <p:sp>
        <p:nvSpPr>
          <p:cNvPr id="8" name="Text 4"/>
          <p:cNvSpPr/>
          <p:nvPr/>
        </p:nvSpPr>
        <p:spPr>
          <a:xfrm>
            <a:off x="1481328" y="1682496"/>
            <a:ext cx="312724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Depth</a:t>
            </a:r>
            <a:endParaRPr lang="en-US" sz="1600" dirty="0"/>
          </a:p>
        </p:txBody>
      </p:sp>
      <p:sp>
        <p:nvSpPr>
          <p:cNvPr id="9" name="Text 5"/>
          <p:cNvSpPr/>
          <p:nvPr/>
        </p:nvSpPr>
        <p:spPr>
          <a:xfrm>
            <a:off x="1481328" y="1984248"/>
            <a:ext cx="3127248" cy="41148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Set by the pulse: cτ/2. Fixed with range.</a:t>
            </a:r>
            <a:endParaRPr lang="en-US" sz="1250" dirty="0"/>
          </a:p>
        </p:txBody>
      </p:sp>
      <p:sp>
        <p:nvSpPr>
          <p:cNvPr id="10" name="Shape 6"/>
          <p:cNvSpPr/>
          <p:nvPr/>
        </p:nvSpPr>
        <p:spPr>
          <a:xfrm>
            <a:off x="548640" y="2651760"/>
            <a:ext cx="4297680" cy="960120"/>
          </a:xfrm>
          <a:prstGeom prst="roundRect">
            <a:avLst>
              <a:gd name="adj" fmla="val 7619"/>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786384" y="2880360"/>
            <a:ext cx="502920" cy="502920"/>
          </a:xfrm>
          <a:prstGeom prst="ellipse">
            <a:avLst/>
          </a:prstGeom>
          <a:solidFill>
            <a:srgbClr val="1C7293"/>
          </a:solidFill>
          <a:ln/>
        </p:spPr>
      </p:sp>
      <p:pic>
        <p:nvPicPr>
          <p:cNvPr id="12" name="Image 2" descr="preencoded.png"/>
          <p:cNvPicPr>
            <a:picLocks noChangeAspect="1"/>
          </p:cNvPicPr>
          <p:nvPr/>
        </p:nvPicPr>
        <p:blipFill>
          <a:blip r:embed="rId5"/>
          <a:stretch>
            <a:fillRect/>
          </a:stretch>
        </p:blipFill>
        <p:spPr>
          <a:xfrm>
            <a:off x="912114" y="3006090"/>
            <a:ext cx="251460" cy="251460"/>
          </a:xfrm>
          <a:prstGeom prst="rect">
            <a:avLst/>
          </a:prstGeom>
        </p:spPr>
      </p:pic>
      <p:sp>
        <p:nvSpPr>
          <p:cNvPr id="13" name="Text 8"/>
          <p:cNvSpPr/>
          <p:nvPr/>
        </p:nvSpPr>
        <p:spPr>
          <a:xfrm>
            <a:off x="1481328" y="2779776"/>
            <a:ext cx="312724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Width &amp; height</a:t>
            </a:r>
            <a:endParaRPr lang="en-US" sz="1600" dirty="0"/>
          </a:p>
        </p:txBody>
      </p:sp>
      <p:sp>
        <p:nvSpPr>
          <p:cNvPr id="14" name="Text 9"/>
          <p:cNvSpPr/>
          <p:nvPr/>
        </p:nvSpPr>
        <p:spPr>
          <a:xfrm>
            <a:off x="1481328" y="3081528"/>
            <a:ext cx="3127248" cy="41148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Set by the beam: r·θ. Both grow with range.</a:t>
            </a:r>
            <a:endParaRPr lang="en-US" sz="1250" dirty="0"/>
          </a:p>
        </p:txBody>
      </p:sp>
      <p:sp>
        <p:nvSpPr>
          <p:cNvPr id="15" name="Shape 10"/>
          <p:cNvSpPr/>
          <p:nvPr/>
        </p:nvSpPr>
        <p:spPr>
          <a:xfrm>
            <a:off x="5120640" y="1554480"/>
            <a:ext cx="3474720" cy="2057400"/>
          </a:xfrm>
          <a:prstGeom prst="roundRect">
            <a:avLst>
              <a:gd name="adj" fmla="val 3556"/>
            </a:avLst>
          </a:prstGeom>
          <a:solidFill>
            <a:srgbClr val="F1F6F8"/>
          </a:solidFill>
          <a:ln/>
          <a:effectLst>
            <a:outerShdw blurRad="88900" dist="38100" dir="5400000" algn="bl" rotWithShape="0">
              <a:srgbClr val="1A2433">
                <a:alpha val="16000"/>
              </a:srgbClr>
            </a:outerShdw>
          </a:effectLst>
        </p:spPr>
      </p:sp>
      <p:sp>
        <p:nvSpPr>
          <p:cNvPr id="16" name="Text 11"/>
          <p:cNvSpPr/>
          <p:nvPr/>
        </p:nvSpPr>
        <p:spPr>
          <a:xfrm>
            <a:off x="5394960" y="1737360"/>
            <a:ext cx="2926080" cy="36576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One value = one volume</a:t>
            </a:r>
            <a:endParaRPr lang="en-US" sz="1600" dirty="0"/>
          </a:p>
        </p:txBody>
      </p:sp>
      <p:sp>
        <p:nvSpPr>
          <p:cNvPr id="17" name="Text 12"/>
          <p:cNvSpPr/>
          <p:nvPr/>
        </p:nvSpPr>
        <p:spPr>
          <a:xfrm>
            <a:off x="5431536" y="2176272"/>
            <a:ext cx="2907792" cy="1271016"/>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depth  =  cτ / 2</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width = height  =  r·θ</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volume  ∝  r²  (grows fast!)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The pulse trade</a:t>
            </a:r>
            <a:endParaRPr lang="en-US" sz="2700" dirty="0"/>
          </a:p>
        </p:txBody>
      </p:sp>
      <p:sp>
        <p:nvSpPr>
          <p:cNvPr id="5" name="Shape 2"/>
          <p:cNvSpPr/>
          <p:nvPr/>
        </p:nvSpPr>
        <p:spPr>
          <a:xfrm>
            <a:off x="548640" y="1554480"/>
            <a:ext cx="3840480" cy="2468880"/>
          </a:xfrm>
          <a:prstGeom prst="roundRect">
            <a:avLst>
              <a:gd name="adj" fmla="val 2963"/>
            </a:avLst>
          </a:prstGeom>
          <a:solidFill>
            <a:srgbClr val="F1F6F8"/>
          </a:solidFill>
          <a:ln/>
          <a:effectLst>
            <a:outerShdw blurRad="88900" dist="38100" dir="5400000" algn="bl" rotWithShape="0">
              <a:srgbClr val="1A2433">
                <a:alpha val="16000"/>
              </a:srgbClr>
            </a:outerShdw>
          </a:effectLst>
        </p:spPr>
      </p:sp>
      <p:sp>
        <p:nvSpPr>
          <p:cNvPr id="6" name="Text 3"/>
          <p:cNvSpPr/>
          <p:nvPr/>
        </p:nvSpPr>
        <p:spPr>
          <a:xfrm>
            <a:off x="822960" y="1737360"/>
            <a:ext cx="3291840" cy="36576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Short pulse</a:t>
            </a:r>
            <a:endParaRPr lang="en-US" sz="1600" dirty="0"/>
          </a:p>
        </p:txBody>
      </p:sp>
      <p:sp>
        <p:nvSpPr>
          <p:cNvPr id="7" name="Text 4"/>
          <p:cNvSpPr/>
          <p:nvPr/>
        </p:nvSpPr>
        <p:spPr>
          <a:xfrm>
            <a:off x="859536" y="2176272"/>
            <a:ext cx="3273552" cy="1682496"/>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Fine range resolution (Δr = cτ/2 small)</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Less sensitive — less energy</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Smaller blind range near the radar</a:t>
            </a:r>
            <a:endParaRPr lang="en-US" sz="1300" dirty="0"/>
          </a:p>
        </p:txBody>
      </p:sp>
      <p:sp>
        <p:nvSpPr>
          <p:cNvPr id="8" name="Shape 5"/>
          <p:cNvSpPr/>
          <p:nvPr/>
        </p:nvSpPr>
        <p:spPr>
          <a:xfrm>
            <a:off x="4572000" y="1554480"/>
            <a:ext cx="3840480" cy="2468880"/>
          </a:xfrm>
          <a:prstGeom prst="roundRect">
            <a:avLst>
              <a:gd name="adj" fmla="val 2963"/>
            </a:avLst>
          </a:prstGeom>
          <a:solidFill>
            <a:srgbClr val="F1F6F8"/>
          </a:solidFill>
          <a:ln/>
          <a:effectLst>
            <a:outerShdw blurRad="88900" dist="38100" dir="5400000" algn="bl" rotWithShape="0">
              <a:srgbClr val="1A2433">
                <a:alpha val="16000"/>
              </a:srgbClr>
            </a:outerShdw>
          </a:effectLst>
        </p:spPr>
      </p:sp>
      <p:sp>
        <p:nvSpPr>
          <p:cNvPr id="9" name="Text 6"/>
          <p:cNvSpPr/>
          <p:nvPr/>
        </p:nvSpPr>
        <p:spPr>
          <a:xfrm>
            <a:off x="4846320" y="1737360"/>
            <a:ext cx="3291840" cy="36576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Long pulse</a:t>
            </a:r>
            <a:endParaRPr lang="en-US" sz="1600" dirty="0"/>
          </a:p>
        </p:txBody>
      </p:sp>
      <p:sp>
        <p:nvSpPr>
          <p:cNvPr id="10" name="Text 7"/>
          <p:cNvSpPr/>
          <p:nvPr/>
        </p:nvSpPr>
        <p:spPr>
          <a:xfrm>
            <a:off x="4882896" y="2176272"/>
            <a:ext cx="3273552" cy="1682496"/>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More sensitive — more energy per pulse</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Coarse range resolution</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Deeper sample, larger blind range</a:t>
            </a:r>
            <a:endParaRPr lang="en-US" sz="1300" dirty="0"/>
          </a:p>
        </p:txBody>
      </p:sp>
      <p:sp>
        <p:nvSpPr>
          <p:cNvPr id="11" name="Shape 8"/>
          <p:cNvSpPr/>
          <p:nvPr/>
        </p:nvSpPr>
        <p:spPr>
          <a:xfrm>
            <a:off x="548640" y="4224528"/>
            <a:ext cx="7863840" cy="548640"/>
          </a:xfrm>
          <a:prstGeom prst="roundRect">
            <a:avLst>
              <a:gd name="adj" fmla="val 15000"/>
            </a:avLst>
          </a:prstGeom>
          <a:solidFill>
            <a:srgbClr val="FBEFD7"/>
          </a:solidFill>
          <a:ln/>
          <a:effectLst>
            <a:outerShdw blurRad="88900" dist="38100" dir="5400000" algn="bl" rotWithShape="0">
              <a:srgbClr val="1A2433">
                <a:alpha val="16000"/>
              </a:srgbClr>
            </a:outerShdw>
          </a:effectLst>
        </p:spPr>
      </p:sp>
      <p:sp>
        <p:nvSpPr>
          <p:cNvPr id="12" name="Text 9"/>
          <p:cNvSpPr/>
          <p:nvPr/>
        </p:nvSpPr>
        <p:spPr>
          <a:xfrm>
            <a:off x="822960" y="4224528"/>
            <a:ext cx="7315200" cy="548640"/>
          </a:xfrm>
          <a:prstGeom prst="rect">
            <a:avLst/>
          </a:prstGeom>
          <a:noFill/>
          <a:ln/>
        </p:spPr>
        <p:txBody>
          <a:bodyPr wrap="square" lIns="0" tIns="0" rIns="0" bIns="0" rtlCol="0" anchor="ctr"/>
          <a:lstStyle/>
          <a:p>
            <a:pPr marL="0" indent="0" algn="ctr">
              <a:buNone/>
            </a:pPr>
            <a:r>
              <a:rPr lang="en-US" sz="1800" b="1" i="1" dirty="0">
                <a:solidFill>
                  <a:srgbClr val="9A6A12"/>
                </a:solidFill>
                <a:latin typeface="Cambria" pitchFamily="34" charset="0"/>
                <a:ea typeface="Cambria" pitchFamily="34" charset="-122"/>
                <a:cs typeface="Cambria" pitchFamily="34" charset="-120"/>
              </a:rPr>
              <a:t>Lengthen the pulse and every gain costs something.</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Detection is not guaranteed</a:t>
            </a:r>
            <a:endParaRPr lang="en-US" sz="2700" dirty="0"/>
          </a:p>
        </p:txBody>
      </p:sp>
      <p:sp>
        <p:nvSpPr>
          <p:cNvPr id="5" name="Shape 2"/>
          <p:cNvSpPr/>
          <p:nvPr/>
        </p:nvSpPr>
        <p:spPr>
          <a:xfrm>
            <a:off x="548640" y="1508760"/>
            <a:ext cx="4937760" cy="1005840"/>
          </a:xfrm>
          <a:prstGeom prst="roundRect">
            <a:avLst>
              <a:gd name="adj" fmla="val 7273"/>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760220"/>
            <a:ext cx="502920" cy="502920"/>
          </a:xfrm>
          <a:prstGeom prst="ellipse">
            <a:avLst/>
          </a:prstGeom>
          <a:solidFill>
            <a:srgbClr val="1C7293"/>
          </a:solidFill>
          <a:ln/>
        </p:spPr>
      </p:sp>
      <p:pic>
        <p:nvPicPr>
          <p:cNvPr id="7" name="Image 1" descr="preencoded.png"/>
          <p:cNvPicPr>
            <a:picLocks noChangeAspect="1"/>
          </p:cNvPicPr>
          <p:nvPr/>
        </p:nvPicPr>
        <p:blipFill>
          <a:blip r:embed="rId3"/>
          <a:stretch>
            <a:fillRect/>
          </a:stretch>
        </p:blipFill>
        <p:spPr>
          <a:xfrm>
            <a:off x="912114" y="1885950"/>
            <a:ext cx="251460" cy="251460"/>
          </a:xfrm>
          <a:prstGeom prst="rect">
            <a:avLst/>
          </a:prstGeom>
        </p:spPr>
      </p:pic>
      <p:sp>
        <p:nvSpPr>
          <p:cNvPr id="8" name="Text 4"/>
          <p:cNvSpPr/>
          <p:nvPr/>
        </p:nvSpPr>
        <p:spPr>
          <a:xfrm>
            <a:off x="1481328" y="1636776"/>
            <a:ext cx="376732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Sensitivity falls with range</a:t>
            </a:r>
            <a:endParaRPr lang="en-US" sz="1600" dirty="0"/>
          </a:p>
        </p:txBody>
      </p:sp>
      <p:sp>
        <p:nvSpPr>
          <p:cNvPr id="9" name="Text 5"/>
          <p:cNvSpPr/>
          <p:nvPr/>
        </p:nvSpPr>
        <p:spPr>
          <a:xfrm>
            <a:off x="1481328" y="1938528"/>
            <a:ext cx="3767328" cy="45720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Received power ∝ 1/r², so the faintest detectable reflectivity climbs with distance.</a:t>
            </a:r>
            <a:endParaRPr lang="en-US" sz="1250" dirty="0"/>
          </a:p>
        </p:txBody>
      </p:sp>
      <p:sp>
        <p:nvSpPr>
          <p:cNvPr id="10" name="Shape 6"/>
          <p:cNvSpPr/>
          <p:nvPr/>
        </p:nvSpPr>
        <p:spPr>
          <a:xfrm>
            <a:off x="548640" y="2697480"/>
            <a:ext cx="4937760" cy="1005840"/>
          </a:xfrm>
          <a:prstGeom prst="roundRect">
            <a:avLst>
              <a:gd name="adj" fmla="val 7273"/>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786384" y="2948940"/>
            <a:ext cx="502920" cy="502920"/>
          </a:xfrm>
          <a:prstGeom prst="ellipse">
            <a:avLst/>
          </a:prstGeom>
          <a:solidFill>
            <a:srgbClr val="1C7293"/>
          </a:solidFill>
          <a:ln/>
        </p:spPr>
      </p:sp>
      <p:pic>
        <p:nvPicPr>
          <p:cNvPr id="12" name="Image 2" descr="preencoded.png"/>
          <p:cNvPicPr>
            <a:picLocks noChangeAspect="1"/>
          </p:cNvPicPr>
          <p:nvPr/>
        </p:nvPicPr>
        <p:blipFill>
          <a:blip r:embed="rId4"/>
          <a:stretch>
            <a:fillRect/>
          </a:stretch>
        </p:blipFill>
        <p:spPr>
          <a:xfrm>
            <a:off x="912114" y="3074670"/>
            <a:ext cx="251460" cy="251460"/>
          </a:xfrm>
          <a:prstGeom prst="rect">
            <a:avLst/>
          </a:prstGeom>
        </p:spPr>
      </p:pic>
      <p:sp>
        <p:nvSpPr>
          <p:cNvPr id="13" name="Text 8"/>
          <p:cNvSpPr/>
          <p:nvPr/>
        </p:nvSpPr>
        <p:spPr>
          <a:xfrm>
            <a:off x="1481328" y="2825496"/>
            <a:ext cx="376732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Hardware moves the curve</a:t>
            </a:r>
            <a:endParaRPr lang="en-US" sz="1600" dirty="0"/>
          </a:p>
        </p:txBody>
      </p:sp>
      <p:sp>
        <p:nvSpPr>
          <p:cNvPr id="14" name="Text 9"/>
          <p:cNvSpPr/>
          <p:nvPr/>
        </p:nvSpPr>
        <p:spPr>
          <a:xfrm>
            <a:off x="1481328" y="3127248"/>
            <a:ext cx="3767328" cy="45720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Transmit power, dish size, and wavelength all shift the whole sensitivity curve.</a:t>
            </a:r>
            <a:endParaRPr lang="en-US" sz="1250" dirty="0"/>
          </a:p>
        </p:txBody>
      </p:sp>
      <p:sp>
        <p:nvSpPr>
          <p:cNvPr id="15" name="Shape 10"/>
          <p:cNvSpPr/>
          <p:nvPr/>
        </p:nvSpPr>
        <p:spPr>
          <a:xfrm>
            <a:off x="5760720" y="1508760"/>
            <a:ext cx="2834640" cy="2194560"/>
          </a:xfrm>
          <a:prstGeom prst="roundRect">
            <a:avLst>
              <a:gd name="adj" fmla="val 3750"/>
            </a:avLst>
          </a:prstGeom>
          <a:solidFill>
            <a:srgbClr val="EAF2F5"/>
          </a:solidFill>
          <a:ln/>
          <a:effectLst>
            <a:outerShdw blurRad="88900" dist="38100" dir="5400000" algn="bl" rotWithShape="0">
              <a:srgbClr val="1A2433">
                <a:alpha val="16000"/>
              </a:srgbClr>
            </a:outerShdw>
          </a:effectLst>
        </p:spPr>
      </p:sp>
      <p:sp>
        <p:nvSpPr>
          <p:cNvPr id="16" name="Text 11"/>
          <p:cNvSpPr/>
          <p:nvPr/>
        </p:nvSpPr>
        <p:spPr>
          <a:xfrm>
            <a:off x="5943600" y="1655064"/>
            <a:ext cx="2468880" cy="1591056"/>
          </a:xfrm>
          <a:prstGeom prst="rect">
            <a:avLst/>
          </a:prstGeom>
          <a:noFill/>
          <a:ln/>
        </p:spPr>
        <p:txBody>
          <a:bodyPr wrap="square" lIns="0" tIns="0" rIns="0" bIns="0" rtlCol="0" anchor="ctr"/>
          <a:lstStyle/>
          <a:p>
            <a:pPr marL="0" indent="0" algn="ctr">
              <a:buNone/>
            </a:pPr>
            <a:r>
              <a:rPr lang="en-US" sz="2700" b="1" dirty="0">
                <a:solidFill>
                  <a:srgbClr val="1C7293"/>
                </a:solidFill>
                <a:latin typeface="Cambria" pitchFamily="34" charset="0"/>
                <a:ea typeface="Cambria" pitchFamily="34" charset="-122"/>
                <a:cs typeface="Cambria" pitchFamily="34" charset="-120"/>
              </a:rPr>
              <a:t>+6 dB</a:t>
            </a:r>
            <a:endParaRPr lang="en-US" sz="2700" dirty="0"/>
          </a:p>
        </p:txBody>
      </p:sp>
      <p:sp>
        <p:nvSpPr>
          <p:cNvPr id="17" name="Text 12"/>
          <p:cNvSpPr/>
          <p:nvPr/>
        </p:nvSpPr>
        <p:spPr>
          <a:xfrm>
            <a:off x="5943600" y="3227832"/>
            <a:ext cx="2468880" cy="365760"/>
          </a:xfrm>
          <a:prstGeom prst="rect">
            <a:avLst/>
          </a:prstGeom>
          <a:noFill/>
          <a:ln/>
        </p:spPr>
        <p:txBody>
          <a:bodyPr wrap="square" lIns="0" tIns="0" rIns="0" bIns="0" rtlCol="0" anchor="ctr"/>
          <a:lstStyle/>
          <a:p>
            <a:pPr marL="0" indent="0" algn="ctr">
              <a:buNone/>
            </a:pPr>
            <a:r>
              <a:rPr lang="en-US" sz="1200" i="1" dirty="0">
                <a:solidFill>
                  <a:srgbClr val="5C6B7A"/>
                </a:solidFill>
                <a:latin typeface="Calibri" pitchFamily="34" charset="0"/>
                <a:ea typeface="Calibri" pitchFamily="34" charset="-122"/>
                <a:cs typeface="Calibri" pitchFamily="34" charset="-120"/>
              </a:rPr>
              <a:t>per range doubling — the beam-filled sensitivity law</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What you'll do</a:t>
            </a:r>
            <a:endParaRPr lang="en-US" sz="2700" dirty="0"/>
          </a:p>
        </p:txBody>
      </p:sp>
      <p:sp>
        <p:nvSpPr>
          <p:cNvPr id="5" name="Shape 2"/>
          <p:cNvSpPr/>
          <p:nvPr/>
        </p:nvSpPr>
        <p:spPr>
          <a:xfrm>
            <a:off x="548640" y="1371600"/>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577340"/>
            <a:ext cx="502920" cy="502920"/>
          </a:xfrm>
          <a:prstGeom prst="ellipse">
            <a:avLst/>
          </a:prstGeom>
          <a:solidFill>
            <a:srgbClr val="1C7293"/>
          </a:solidFill>
          <a:ln/>
        </p:spPr>
      </p:sp>
      <p:pic>
        <p:nvPicPr>
          <p:cNvPr id="7" name="Image 1" descr="preencoded.png"/>
          <p:cNvPicPr>
            <a:picLocks noChangeAspect="1"/>
          </p:cNvPicPr>
          <p:nvPr/>
        </p:nvPicPr>
        <p:blipFill>
          <a:blip r:embed="rId3"/>
          <a:stretch>
            <a:fillRect/>
          </a:stretch>
        </p:blipFill>
        <p:spPr>
          <a:xfrm>
            <a:off x="912114" y="1703070"/>
            <a:ext cx="251460" cy="251460"/>
          </a:xfrm>
          <a:prstGeom prst="rect">
            <a:avLst/>
          </a:prstGeom>
        </p:spPr>
      </p:pic>
      <p:sp>
        <p:nvSpPr>
          <p:cNvPr id="8" name="Text 4"/>
          <p:cNvSpPr/>
          <p:nvPr/>
        </p:nvSpPr>
        <p:spPr>
          <a:xfrm>
            <a:off x="1481328" y="1499616"/>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Three widgets</a:t>
            </a:r>
            <a:endParaRPr lang="en-US" sz="1600" dirty="0"/>
          </a:p>
        </p:txBody>
      </p:sp>
      <p:sp>
        <p:nvSpPr>
          <p:cNvPr id="9" name="Text 5"/>
          <p:cNvSpPr/>
          <p:nvPr/>
        </p:nvSpPr>
        <p:spPr>
          <a:xfrm>
            <a:off x="1481328" y="1801368"/>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Pulse width · the resolution volume · the radar equation (sensitivity).</a:t>
            </a:r>
            <a:endParaRPr lang="en-US" sz="1250" dirty="0"/>
          </a:p>
        </p:txBody>
      </p:sp>
      <p:sp>
        <p:nvSpPr>
          <p:cNvPr id="10" name="Shape 6"/>
          <p:cNvSpPr/>
          <p:nvPr/>
        </p:nvSpPr>
        <p:spPr>
          <a:xfrm>
            <a:off x="548640" y="2395728"/>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786384" y="2601468"/>
            <a:ext cx="502920" cy="502920"/>
          </a:xfrm>
          <a:prstGeom prst="ellipse">
            <a:avLst/>
          </a:prstGeom>
          <a:solidFill>
            <a:srgbClr val="1C7293"/>
          </a:solidFill>
          <a:ln/>
        </p:spPr>
      </p:sp>
      <p:pic>
        <p:nvPicPr>
          <p:cNvPr id="12" name="Image 2" descr="preencoded.png"/>
          <p:cNvPicPr>
            <a:picLocks noChangeAspect="1"/>
          </p:cNvPicPr>
          <p:nvPr/>
        </p:nvPicPr>
        <p:blipFill>
          <a:blip r:embed="rId4"/>
          <a:stretch>
            <a:fillRect/>
          </a:stretch>
        </p:blipFill>
        <p:spPr>
          <a:xfrm>
            <a:off x="912114" y="2727198"/>
            <a:ext cx="251460" cy="251460"/>
          </a:xfrm>
          <a:prstGeom prst="rect">
            <a:avLst/>
          </a:prstGeom>
        </p:spPr>
      </p:pic>
      <p:sp>
        <p:nvSpPr>
          <p:cNvPr id="13" name="Text 8"/>
          <p:cNvSpPr/>
          <p:nvPr/>
        </p:nvSpPr>
        <p:spPr>
          <a:xfrm>
            <a:off x="1481328" y="2523744"/>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Real data</a:t>
            </a:r>
            <a:endParaRPr lang="en-US" sz="1600" dirty="0"/>
          </a:p>
        </p:txBody>
      </p:sp>
      <p:sp>
        <p:nvSpPr>
          <p:cNvPr id="14" name="Text 9"/>
          <p:cNvSpPr/>
          <p:nvPr/>
        </p:nvSpPr>
        <p:spPr>
          <a:xfrm>
            <a:off x="1481328" y="2825496"/>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The 20 May 2013 Moore storm seen by two radars at once — 20 km vs 200 km.</a:t>
            </a:r>
            <a:endParaRPr lang="en-US" sz="1250" dirty="0"/>
          </a:p>
        </p:txBody>
      </p:sp>
      <p:sp>
        <p:nvSpPr>
          <p:cNvPr id="15" name="Shape 10"/>
          <p:cNvSpPr/>
          <p:nvPr/>
        </p:nvSpPr>
        <p:spPr>
          <a:xfrm>
            <a:off x="548640" y="3529584"/>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sp>
      <p:sp>
        <p:nvSpPr>
          <p:cNvPr id="16" name="Shape 11"/>
          <p:cNvSpPr/>
          <p:nvPr/>
        </p:nvSpPr>
        <p:spPr>
          <a:xfrm>
            <a:off x="822960" y="3712464"/>
            <a:ext cx="548640" cy="548640"/>
          </a:xfrm>
          <a:prstGeom prst="ellipse">
            <a:avLst/>
          </a:prstGeom>
          <a:solidFill>
            <a:srgbClr val="E0A33E"/>
          </a:solidFill>
          <a:ln/>
        </p:spPr>
      </p:sp>
      <p:pic>
        <p:nvPicPr>
          <p:cNvPr id="17" name="Image 3" descr="preencoded.png"/>
          <p:cNvPicPr>
            <a:picLocks noChangeAspect="1"/>
          </p:cNvPicPr>
          <p:nvPr/>
        </p:nvPicPr>
        <p:blipFill>
          <a:blip r:embed="rId5"/>
          <a:stretch>
            <a:fillRect/>
          </a:stretch>
        </p:blipFill>
        <p:spPr>
          <a:xfrm>
            <a:off x="960120" y="3849624"/>
            <a:ext cx="274320" cy="274320"/>
          </a:xfrm>
          <a:prstGeom prst="rect">
            <a:avLst/>
          </a:prstGeom>
        </p:spPr>
      </p:pic>
      <p:sp>
        <p:nvSpPr>
          <p:cNvPr id="18" name="Text 12"/>
          <p:cNvSpPr/>
          <p:nvPr/>
        </p:nvSpPr>
        <p:spPr>
          <a:xfrm>
            <a:off x="1572768" y="3675888"/>
            <a:ext cx="6748272" cy="621792"/>
          </a:xfrm>
          <a:prstGeom prst="rect">
            <a:avLst/>
          </a:prstGeom>
          <a:noFill/>
          <a:ln/>
        </p:spPr>
        <p:txBody>
          <a:bodyPr wrap="square" lIns="0" tIns="0" rIns="0" bIns="0" rtlCol="0" anchor="ctr"/>
          <a:lstStyle/>
          <a:p>
            <a:pPr marL="0" indent="0">
              <a:buNone/>
            </a:pPr>
            <a:r>
              <a:rPr lang="en-US" sz="1050" b="1" kern="0" spc="200" dirty="0">
                <a:solidFill>
                  <a:srgbClr val="E0A33E"/>
                </a:solidFill>
                <a:latin typeface="Calibri" pitchFamily="34" charset="0"/>
                <a:ea typeface="Calibri" pitchFamily="34" charset="-122"/>
                <a:cs typeface="Calibri" pitchFamily="34" charset="-120"/>
              </a:rPr>
              <a:t>TAKEAWAY</a:t>
            </a:r>
            <a:endParaRPr lang="en-US" sz="1050" dirty="0"/>
          </a:p>
          <a:p>
            <a:pPr marL="0" indent="0">
              <a:buNone/>
            </a:pPr>
            <a:r>
              <a:rPr lang="en-US" sz="1350" dirty="0">
                <a:solidFill>
                  <a:srgbClr val="FFFFFF"/>
                </a:solidFill>
                <a:latin typeface="Calibri" pitchFamily="34" charset="0"/>
                <a:ea typeface="Calibri" pitchFamily="34" charset="-122"/>
                <a:cs typeface="Calibri" pitchFamily="34" charset="-120"/>
              </a:rPr>
              <a:t>One value is a volume-sized average — a distant pixel is a big spatial average, an underestimated peak, and a detection threshold at once.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389888" y="5364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Discussion</a:t>
            </a:r>
            <a:endParaRPr lang="en-US" sz="2700" dirty="0"/>
          </a:p>
        </p:txBody>
      </p:sp>
      <p:sp>
        <p:nvSpPr>
          <p:cNvPr id="15" name="Shape 10"/>
          <p:cNvSpPr/>
          <p:nvPr/>
        </p:nvSpPr>
        <p:spPr>
          <a:xfrm>
            <a:off x="566928" y="1501439"/>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sp>
      <p:sp>
        <p:nvSpPr>
          <p:cNvPr id="16" name="Shape 11"/>
          <p:cNvSpPr/>
          <p:nvPr/>
        </p:nvSpPr>
        <p:spPr>
          <a:xfrm>
            <a:off x="841248" y="1684319"/>
            <a:ext cx="548640" cy="548640"/>
          </a:xfrm>
          <a:prstGeom prst="ellipse">
            <a:avLst/>
          </a:prstGeom>
          <a:solidFill>
            <a:srgbClr val="E0A33E"/>
          </a:solidFill>
          <a:ln/>
        </p:spPr>
      </p:sp>
      <p:pic>
        <p:nvPicPr>
          <p:cNvPr id="17" name="Image 3" descr="preencoded.png"/>
          <p:cNvPicPr>
            <a:picLocks noChangeAspect="1"/>
          </p:cNvPicPr>
          <p:nvPr/>
        </p:nvPicPr>
        <p:blipFill>
          <a:blip r:embed="rId4"/>
          <a:stretch>
            <a:fillRect/>
          </a:stretch>
        </p:blipFill>
        <p:spPr>
          <a:xfrm>
            <a:off x="982092" y="1821479"/>
            <a:ext cx="274320" cy="274320"/>
          </a:xfrm>
          <a:prstGeom prst="rect">
            <a:avLst/>
          </a:prstGeom>
        </p:spPr>
      </p:pic>
      <p:sp>
        <p:nvSpPr>
          <p:cNvPr id="18" name="Text 12"/>
          <p:cNvSpPr/>
          <p:nvPr/>
        </p:nvSpPr>
        <p:spPr>
          <a:xfrm>
            <a:off x="1591056" y="1647743"/>
            <a:ext cx="6748272" cy="62179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Two radar images of the same storm disagree about how intense it is. Before deciding which is "right," what would you ask about how each measurement was made?</a:t>
            </a:r>
            <a:endParaRPr lang="en-US" sz="1050" dirty="0"/>
          </a:p>
        </p:txBody>
      </p:sp>
      <p:sp>
        <p:nvSpPr>
          <p:cNvPr id="20" name="Shape 10">
            <a:extLst>
              <a:ext uri="{FF2B5EF4-FFF2-40B4-BE49-F238E27FC236}">
                <a16:creationId xmlns:a16="http://schemas.microsoft.com/office/drawing/2014/main" id="{553835F5-CBAE-4139-ABE4-1BC5618DEE3F}"/>
              </a:ext>
            </a:extLst>
          </p:cNvPr>
          <p:cNvSpPr/>
          <p:nvPr/>
        </p:nvSpPr>
        <p:spPr>
          <a:xfrm>
            <a:off x="566928" y="2598719"/>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sp>
      <p:sp>
        <p:nvSpPr>
          <p:cNvPr id="21" name="Shape 11">
            <a:extLst>
              <a:ext uri="{FF2B5EF4-FFF2-40B4-BE49-F238E27FC236}">
                <a16:creationId xmlns:a16="http://schemas.microsoft.com/office/drawing/2014/main" id="{1D387E5A-61F7-455A-9909-5E3BDA8A1FE8}"/>
              </a:ext>
            </a:extLst>
          </p:cNvPr>
          <p:cNvSpPr/>
          <p:nvPr/>
        </p:nvSpPr>
        <p:spPr>
          <a:xfrm>
            <a:off x="841248" y="2781599"/>
            <a:ext cx="548640" cy="548640"/>
          </a:xfrm>
          <a:prstGeom prst="ellipse">
            <a:avLst/>
          </a:prstGeom>
          <a:solidFill>
            <a:srgbClr val="E0A33E"/>
          </a:solidFill>
          <a:ln/>
        </p:spPr>
      </p:sp>
      <p:pic>
        <p:nvPicPr>
          <p:cNvPr id="22" name="Image 3" descr="preencoded.png">
            <a:extLst>
              <a:ext uri="{FF2B5EF4-FFF2-40B4-BE49-F238E27FC236}">
                <a16:creationId xmlns:a16="http://schemas.microsoft.com/office/drawing/2014/main" id="{01390C2A-10F8-442C-9DD5-7526707658FD}"/>
              </a:ext>
            </a:extLst>
          </p:cNvPr>
          <p:cNvPicPr>
            <a:picLocks noChangeAspect="1"/>
          </p:cNvPicPr>
          <p:nvPr/>
        </p:nvPicPr>
        <p:blipFill>
          <a:blip r:embed="rId4"/>
          <a:stretch>
            <a:fillRect/>
          </a:stretch>
        </p:blipFill>
        <p:spPr>
          <a:xfrm>
            <a:off x="982092" y="2918759"/>
            <a:ext cx="274320" cy="274320"/>
          </a:xfrm>
          <a:prstGeom prst="rect">
            <a:avLst/>
          </a:prstGeom>
        </p:spPr>
      </p:pic>
      <p:sp>
        <p:nvSpPr>
          <p:cNvPr id="23" name="Text 12">
            <a:extLst>
              <a:ext uri="{FF2B5EF4-FFF2-40B4-BE49-F238E27FC236}">
                <a16:creationId xmlns:a16="http://schemas.microsoft.com/office/drawing/2014/main" id="{1C1E7AF8-3806-4285-97E7-4475CBB908FD}"/>
              </a:ext>
            </a:extLst>
          </p:cNvPr>
          <p:cNvSpPr/>
          <p:nvPr/>
        </p:nvSpPr>
        <p:spPr>
          <a:xfrm>
            <a:off x="1591056" y="2745023"/>
            <a:ext cx="6748272" cy="62179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A radar shows an echo fading to nothing at its far edge. List the different things that fading edge could mean — and how you'd tell them apart.</a:t>
            </a:r>
            <a:endParaRPr lang="en-US" sz="1050" dirty="0"/>
          </a:p>
        </p:txBody>
      </p:sp>
      <p:sp>
        <p:nvSpPr>
          <p:cNvPr id="24" name="Shape 0">
            <a:extLst>
              <a:ext uri="{FF2B5EF4-FFF2-40B4-BE49-F238E27FC236}">
                <a16:creationId xmlns:a16="http://schemas.microsoft.com/office/drawing/2014/main" id="{46DD00A4-40F3-4367-8458-B08BAB039F83}"/>
              </a:ext>
            </a:extLst>
          </p:cNvPr>
          <p:cNvSpPr/>
          <p:nvPr/>
        </p:nvSpPr>
        <p:spPr>
          <a:xfrm>
            <a:off x="701040" y="536448"/>
            <a:ext cx="566928" cy="566928"/>
          </a:xfrm>
          <a:prstGeom prst="ellipse">
            <a:avLst/>
          </a:prstGeom>
          <a:solidFill>
            <a:srgbClr val="1C7293"/>
          </a:solidFill>
          <a:ln/>
        </p:spPr>
      </p:sp>
      <p:pic>
        <p:nvPicPr>
          <p:cNvPr id="25" name="Image 0" descr="preencoded.png">
            <a:extLst>
              <a:ext uri="{FF2B5EF4-FFF2-40B4-BE49-F238E27FC236}">
                <a16:creationId xmlns:a16="http://schemas.microsoft.com/office/drawing/2014/main" id="{299851C2-A12B-4B36-A5EF-F1FEEE11F9C7}"/>
              </a:ext>
            </a:extLst>
          </p:cNvPr>
          <p:cNvPicPr>
            <a:picLocks noChangeAspect="1"/>
          </p:cNvPicPr>
          <p:nvPr/>
        </p:nvPicPr>
        <p:blipFill>
          <a:blip r:embed="rId3"/>
          <a:stretch>
            <a:fillRect/>
          </a:stretch>
        </p:blipFill>
        <p:spPr>
          <a:xfrm>
            <a:off x="842772" y="678180"/>
            <a:ext cx="283464" cy="283464"/>
          </a:xfrm>
          <a:prstGeom prst="rect">
            <a:avLst/>
          </a:prstGeom>
        </p:spPr>
      </p:pic>
    </p:spTree>
    <p:extLst>
      <p:ext uri="{BB962C8B-B14F-4D97-AF65-F5344CB8AC3E}">
        <p14:creationId xmlns:p14="http://schemas.microsoft.com/office/powerpoint/2010/main" val="3788581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a:effectLst/>
      </p:bgPr>
    </p:bg>
    <p:spTree>
      <p:nvGrpSpPr>
        <p:cNvPr id="1" name=""/>
        <p:cNvGrpSpPr/>
        <p:nvPr/>
      </p:nvGrpSpPr>
      <p:grpSpPr>
        <a:xfrm>
          <a:off x="0" y="0"/>
          <a:ext cx="0" cy="0"/>
          <a:chOff x="0" y="0"/>
          <a:chExt cx="0" cy="0"/>
        </a:xfrm>
      </p:grpSpPr>
      <p:sp>
        <p:nvSpPr>
          <p:cNvPr id="2" name="Text 0"/>
          <p:cNvSpPr/>
          <p:nvPr/>
        </p:nvSpPr>
        <p:spPr>
          <a:xfrm>
            <a:off x="5486400" y="-320040"/>
            <a:ext cx="3566160" cy="3108960"/>
          </a:xfrm>
          <a:prstGeom prst="rect">
            <a:avLst/>
          </a:prstGeom>
          <a:noFill/>
          <a:ln/>
        </p:spPr>
        <p:txBody>
          <a:bodyPr wrap="square" lIns="0" tIns="0" rIns="0" bIns="0" rtlCol="0" anchor="t"/>
          <a:lstStyle/>
          <a:p>
            <a:pPr marL="0" indent="0" algn="r">
              <a:buNone/>
            </a:pPr>
            <a:r>
              <a:rPr lang="en-US" sz="20000" b="1" dirty="0">
                <a:solidFill>
                  <a:srgbClr val="183B5E"/>
                </a:solidFill>
                <a:latin typeface="Cambria" pitchFamily="34" charset="0"/>
                <a:ea typeface="Cambria" pitchFamily="34" charset="-122"/>
                <a:cs typeface="Cambria" pitchFamily="34" charset="-120"/>
              </a:rPr>
              <a:t>03</a:t>
            </a:r>
            <a:endParaRPr lang="en-US" sz="20000" dirty="0"/>
          </a:p>
        </p:txBody>
      </p:sp>
      <p:sp>
        <p:nvSpPr>
          <p:cNvPr id="3" name="Shape 1"/>
          <p:cNvSpPr/>
          <p:nvPr/>
        </p:nvSpPr>
        <p:spPr>
          <a:xfrm>
            <a:off x="640080" y="731520"/>
            <a:ext cx="914400" cy="914400"/>
          </a:xfrm>
          <a:prstGeom prst="ellipse">
            <a:avLst/>
          </a:prstGeom>
          <a:solidFill>
            <a:srgbClr val="E0A33E"/>
          </a:solidFill>
          <a:ln/>
        </p:spPr>
      </p:sp>
      <p:pic>
        <p:nvPicPr>
          <p:cNvPr id="4" name="Image 0" descr="preencoded.png"/>
          <p:cNvPicPr>
            <a:picLocks noChangeAspect="1"/>
          </p:cNvPicPr>
          <p:nvPr/>
        </p:nvPicPr>
        <p:blipFill>
          <a:blip r:embed="rId3"/>
          <a:stretch>
            <a:fillRect/>
          </a:stretch>
        </p:blipFill>
        <p:spPr>
          <a:xfrm>
            <a:off x="868680" y="960120"/>
            <a:ext cx="457200" cy="457200"/>
          </a:xfrm>
          <a:prstGeom prst="rect">
            <a:avLst/>
          </a:prstGeom>
        </p:spPr>
      </p:pic>
      <p:sp>
        <p:nvSpPr>
          <p:cNvPr id="5" name="Text 2"/>
          <p:cNvSpPr/>
          <p:nvPr/>
        </p:nvSpPr>
        <p:spPr>
          <a:xfrm>
            <a:off x="676656" y="1810512"/>
            <a:ext cx="4572000" cy="365760"/>
          </a:xfrm>
          <a:prstGeom prst="rect">
            <a:avLst/>
          </a:prstGeom>
          <a:noFill/>
          <a:ln/>
        </p:spPr>
        <p:txBody>
          <a:bodyPr wrap="square" lIns="0" tIns="0" rIns="0" bIns="0" rtlCol="0" anchor="ctr"/>
          <a:lstStyle/>
          <a:p>
            <a:pPr marL="0" indent="0">
              <a:buNone/>
            </a:pPr>
            <a:r>
              <a:rPr lang="en-US" sz="1400" b="1" kern="0" spc="300" dirty="0">
                <a:solidFill>
                  <a:srgbClr val="E0A33E"/>
                </a:solidFill>
                <a:latin typeface="Calibri" pitchFamily="34" charset="0"/>
                <a:ea typeface="Calibri" pitchFamily="34" charset="-122"/>
                <a:cs typeface="Calibri" pitchFamily="34" charset="-120"/>
              </a:rPr>
              <a:t>BLOCK 03</a:t>
            </a:r>
            <a:endParaRPr lang="en-US" sz="1400" dirty="0"/>
          </a:p>
        </p:txBody>
      </p:sp>
      <p:sp>
        <p:nvSpPr>
          <p:cNvPr id="6" name="Text 3"/>
          <p:cNvSpPr/>
          <p:nvPr/>
        </p:nvSpPr>
        <p:spPr>
          <a:xfrm>
            <a:off x="621792" y="2121408"/>
            <a:ext cx="7955280" cy="9144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Range, velocity &amp; ambiguity</a:t>
            </a:r>
            <a:endParaRPr lang="en-US" sz="4000" dirty="0"/>
          </a:p>
        </p:txBody>
      </p:sp>
      <p:sp>
        <p:nvSpPr>
          <p:cNvPr id="7" name="Text 4"/>
          <p:cNvSpPr/>
          <p:nvPr/>
        </p:nvSpPr>
        <p:spPr>
          <a:xfrm>
            <a:off x="658368" y="3127248"/>
            <a:ext cx="7955280" cy="502920"/>
          </a:xfrm>
          <a:prstGeom prst="rect">
            <a:avLst/>
          </a:prstGeom>
          <a:noFill/>
          <a:ln/>
        </p:spPr>
        <p:txBody>
          <a:bodyPr wrap="square" lIns="0" tIns="0" rIns="0" bIns="0" rtlCol="0" anchor="ctr"/>
          <a:lstStyle/>
          <a:p>
            <a:pPr marL="0" indent="0">
              <a:buNone/>
            </a:pPr>
            <a:r>
              <a:rPr lang="en-US" sz="1800" i="1" dirty="0">
                <a:solidFill>
                  <a:srgbClr val="A9CBD8"/>
                </a:solidFill>
                <a:latin typeface="Cambria" pitchFamily="34" charset="0"/>
                <a:ea typeface="Cambria" pitchFamily="34" charset="-122"/>
                <a:cs typeface="Cambria" pitchFamily="34" charset="-120"/>
              </a:rPr>
              <a:t>How does the radar know how far and how fast — and where does that break?</a:t>
            </a:r>
            <a:endParaRPr lang="en-US" sz="1800" dirty="0"/>
          </a:p>
        </p:txBody>
      </p:sp>
      <p:sp>
        <p:nvSpPr>
          <p:cNvPr id="8" name="Text 5"/>
          <p:cNvSpPr/>
          <p:nvPr/>
        </p:nvSpPr>
        <p:spPr>
          <a:xfrm>
            <a:off x="658368" y="3822192"/>
            <a:ext cx="7955280" cy="822960"/>
          </a:xfrm>
          <a:prstGeom prst="rect">
            <a:avLst/>
          </a:prstGeom>
          <a:noFill/>
          <a:ln/>
        </p:spPr>
        <p:txBody>
          <a:bodyPr wrap="square" lIns="0" tIns="0" rIns="0" bIns="0" rtlCol="0" anchor="t"/>
          <a:lstStyle/>
          <a:p>
            <a:pPr marL="0" indent="0">
              <a:buNone/>
            </a:pPr>
            <a:r>
              <a:rPr lang="en-US" sz="1500" dirty="0">
                <a:solidFill>
                  <a:srgbClr val="DCE7EE"/>
                </a:solidFill>
                <a:latin typeface="Calibri" pitchFamily="34" charset="0"/>
                <a:ea typeface="Calibri" pitchFamily="34" charset="-122"/>
                <a:cs typeface="Calibri" pitchFamily="34" charset="-120"/>
              </a:rPr>
              <a:t>Range and velocity come from the same pulse train — and the rate that helps one hurts the other.</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One pulse train, two jobs</a:t>
            </a:r>
            <a:endParaRPr lang="en-US" sz="2700" dirty="0"/>
          </a:p>
        </p:txBody>
      </p:sp>
      <p:sp>
        <p:nvSpPr>
          <p:cNvPr id="5" name="Shape 2"/>
          <p:cNvSpPr/>
          <p:nvPr/>
        </p:nvSpPr>
        <p:spPr>
          <a:xfrm>
            <a:off x="548640" y="1600200"/>
            <a:ext cx="8046720" cy="1005840"/>
          </a:xfrm>
          <a:prstGeom prst="roundRect">
            <a:avLst>
              <a:gd name="adj" fmla="val 7273"/>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851660"/>
            <a:ext cx="502920" cy="502920"/>
          </a:xfrm>
          <a:prstGeom prst="ellipse">
            <a:avLst/>
          </a:prstGeom>
          <a:solidFill>
            <a:srgbClr val="1C7293"/>
          </a:solidFill>
          <a:ln/>
        </p:spPr>
      </p:sp>
      <p:pic>
        <p:nvPicPr>
          <p:cNvPr id="7" name="Image 1" descr="preencoded.png"/>
          <p:cNvPicPr>
            <a:picLocks noChangeAspect="1"/>
          </p:cNvPicPr>
          <p:nvPr/>
        </p:nvPicPr>
        <p:blipFill>
          <a:blip r:embed="rId4"/>
          <a:stretch>
            <a:fillRect/>
          </a:stretch>
        </p:blipFill>
        <p:spPr>
          <a:xfrm>
            <a:off x="912114" y="1977390"/>
            <a:ext cx="251460" cy="251460"/>
          </a:xfrm>
          <a:prstGeom prst="rect">
            <a:avLst/>
          </a:prstGeom>
        </p:spPr>
      </p:pic>
      <p:sp>
        <p:nvSpPr>
          <p:cNvPr id="8" name="Text 4"/>
          <p:cNvSpPr/>
          <p:nvPr/>
        </p:nvSpPr>
        <p:spPr>
          <a:xfrm>
            <a:off x="1481328" y="1728216"/>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Maximum range</a:t>
            </a:r>
            <a:endParaRPr lang="en-US" sz="1600" dirty="0"/>
          </a:p>
        </p:txBody>
      </p:sp>
      <p:sp>
        <p:nvSpPr>
          <p:cNvPr id="9" name="Text 5"/>
          <p:cNvSpPr/>
          <p:nvPr/>
        </p:nvSpPr>
        <p:spPr>
          <a:xfrm>
            <a:off x="1481328" y="2029968"/>
            <a:ext cx="6876288" cy="45720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A pulse must return before the next goes out:  r_max = c / (2·PRF).</a:t>
            </a:r>
            <a:endParaRPr lang="en-US" sz="1250" dirty="0"/>
          </a:p>
        </p:txBody>
      </p:sp>
      <p:sp>
        <p:nvSpPr>
          <p:cNvPr id="10" name="Shape 6"/>
          <p:cNvSpPr/>
          <p:nvPr/>
        </p:nvSpPr>
        <p:spPr>
          <a:xfrm>
            <a:off x="548640" y="2743200"/>
            <a:ext cx="8046720" cy="1005840"/>
          </a:xfrm>
          <a:prstGeom prst="roundRect">
            <a:avLst>
              <a:gd name="adj" fmla="val 7273"/>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786384" y="2994660"/>
            <a:ext cx="502920" cy="502920"/>
          </a:xfrm>
          <a:prstGeom prst="ellipse">
            <a:avLst/>
          </a:prstGeom>
          <a:solidFill>
            <a:srgbClr val="1C7293"/>
          </a:solidFill>
          <a:ln/>
        </p:spPr>
      </p:sp>
      <p:pic>
        <p:nvPicPr>
          <p:cNvPr id="12" name="Image 2" descr="preencoded.png"/>
          <p:cNvPicPr>
            <a:picLocks noChangeAspect="1"/>
          </p:cNvPicPr>
          <p:nvPr/>
        </p:nvPicPr>
        <p:blipFill>
          <a:blip r:embed="rId5"/>
          <a:stretch>
            <a:fillRect/>
          </a:stretch>
        </p:blipFill>
        <p:spPr>
          <a:xfrm>
            <a:off x="912114" y="3120390"/>
            <a:ext cx="251460" cy="251460"/>
          </a:xfrm>
          <a:prstGeom prst="rect">
            <a:avLst/>
          </a:prstGeom>
        </p:spPr>
      </p:pic>
      <p:sp>
        <p:nvSpPr>
          <p:cNvPr id="13" name="Text 8"/>
          <p:cNvSpPr/>
          <p:nvPr/>
        </p:nvSpPr>
        <p:spPr>
          <a:xfrm>
            <a:off x="1481328" y="2871216"/>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Maximum velocity</a:t>
            </a:r>
            <a:endParaRPr lang="en-US" sz="1600" dirty="0"/>
          </a:p>
        </p:txBody>
      </p:sp>
      <p:sp>
        <p:nvSpPr>
          <p:cNvPr id="14" name="Text 9"/>
          <p:cNvSpPr/>
          <p:nvPr/>
        </p:nvSpPr>
        <p:spPr>
          <a:xfrm>
            <a:off x="1481328" y="3172968"/>
            <a:ext cx="6876288" cy="45720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The same pulse rate sets the fastest unambiguous speed:  v_max = λ·PRF / 4.</a:t>
            </a:r>
            <a:endParaRPr lang="en-US" sz="1250" dirty="0"/>
          </a:p>
        </p:txBody>
      </p:sp>
      <p:sp>
        <p:nvSpPr>
          <p:cNvPr id="15" name="Shape 10"/>
          <p:cNvSpPr/>
          <p:nvPr/>
        </p:nvSpPr>
        <p:spPr>
          <a:xfrm>
            <a:off x="548640" y="4041648"/>
            <a:ext cx="8046720" cy="548640"/>
          </a:xfrm>
          <a:prstGeom prst="roundRect">
            <a:avLst>
              <a:gd name="adj" fmla="val 15000"/>
            </a:avLst>
          </a:prstGeom>
          <a:solidFill>
            <a:srgbClr val="FBEFD7"/>
          </a:solidFill>
          <a:ln/>
          <a:effectLst>
            <a:outerShdw blurRad="88900" dist="38100" dir="5400000" algn="bl" rotWithShape="0">
              <a:srgbClr val="1A2433">
                <a:alpha val="16000"/>
              </a:srgbClr>
            </a:outerShdw>
          </a:effectLst>
        </p:spPr>
      </p:sp>
      <p:sp>
        <p:nvSpPr>
          <p:cNvPr id="16" name="Text 11"/>
          <p:cNvSpPr/>
          <p:nvPr/>
        </p:nvSpPr>
        <p:spPr>
          <a:xfrm>
            <a:off x="822960" y="4041648"/>
            <a:ext cx="7498080" cy="548640"/>
          </a:xfrm>
          <a:prstGeom prst="rect">
            <a:avLst/>
          </a:prstGeom>
          <a:noFill/>
          <a:ln/>
        </p:spPr>
        <p:txBody>
          <a:bodyPr wrap="square" lIns="0" tIns="0" rIns="0" bIns="0" rtlCol="0" anchor="ctr"/>
          <a:lstStyle/>
          <a:p>
            <a:pPr marL="0" indent="0" algn="ctr">
              <a:buNone/>
            </a:pPr>
            <a:r>
              <a:rPr lang="en-US" sz="1800" b="1" i="1" dirty="0">
                <a:solidFill>
                  <a:srgbClr val="9A6A12"/>
                </a:solidFill>
                <a:latin typeface="Cambria" pitchFamily="34" charset="0"/>
                <a:ea typeface="Cambria" pitchFamily="34" charset="-122"/>
                <a:cs typeface="Cambria" pitchFamily="34" charset="-120"/>
              </a:rPr>
              <a:t>Raise the PRF for velocity and you lose range — and vice versa.</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The Doppler dilemma</a:t>
            </a:r>
            <a:endParaRPr lang="en-US" sz="2700" dirty="0"/>
          </a:p>
        </p:txBody>
      </p:sp>
      <p:sp>
        <p:nvSpPr>
          <p:cNvPr id="5" name="Shape 2"/>
          <p:cNvSpPr/>
          <p:nvPr/>
        </p:nvSpPr>
        <p:spPr>
          <a:xfrm>
            <a:off x="822960" y="1554480"/>
            <a:ext cx="7498080" cy="1554480"/>
          </a:xfrm>
          <a:prstGeom prst="roundRect">
            <a:avLst>
              <a:gd name="adj" fmla="val 5294"/>
            </a:avLst>
          </a:prstGeom>
          <a:solidFill>
            <a:srgbClr val="EAF2F5"/>
          </a:solidFill>
          <a:ln/>
          <a:effectLst>
            <a:outerShdw blurRad="88900" dist="38100" dir="5400000" algn="bl" rotWithShape="0">
              <a:srgbClr val="1A2433">
                <a:alpha val="16000"/>
              </a:srgbClr>
            </a:outerShdw>
          </a:effectLst>
        </p:spPr>
      </p:sp>
      <p:sp>
        <p:nvSpPr>
          <p:cNvPr id="6" name="Text 3"/>
          <p:cNvSpPr/>
          <p:nvPr/>
        </p:nvSpPr>
        <p:spPr>
          <a:xfrm>
            <a:off x="1005840" y="1700784"/>
            <a:ext cx="7132320" cy="950976"/>
          </a:xfrm>
          <a:prstGeom prst="rect">
            <a:avLst/>
          </a:prstGeom>
          <a:noFill/>
          <a:ln/>
        </p:spPr>
        <p:txBody>
          <a:bodyPr wrap="square" lIns="0" tIns="0" rIns="0" bIns="0" rtlCol="0" anchor="ctr"/>
          <a:lstStyle/>
          <a:p>
            <a:pPr marL="0" indent="0" algn="ctr">
              <a:buNone/>
            </a:pPr>
            <a:r>
              <a:rPr lang="en-US" sz="2700" b="1" dirty="0">
                <a:solidFill>
                  <a:srgbClr val="1C7293"/>
                </a:solidFill>
                <a:latin typeface="Cambria" pitchFamily="34" charset="0"/>
                <a:ea typeface="Cambria" pitchFamily="34" charset="-122"/>
                <a:cs typeface="Cambria" pitchFamily="34" charset="-120"/>
              </a:rPr>
              <a:t>r_max · v_max = c·λ / 8</a:t>
            </a:r>
            <a:endParaRPr lang="en-US" sz="2700" dirty="0"/>
          </a:p>
        </p:txBody>
      </p:sp>
      <p:sp>
        <p:nvSpPr>
          <p:cNvPr id="7" name="Text 4"/>
          <p:cNvSpPr/>
          <p:nvPr/>
        </p:nvSpPr>
        <p:spPr>
          <a:xfrm>
            <a:off x="1005840" y="2633472"/>
            <a:ext cx="7132320" cy="365760"/>
          </a:xfrm>
          <a:prstGeom prst="rect">
            <a:avLst/>
          </a:prstGeom>
          <a:noFill/>
          <a:ln/>
        </p:spPr>
        <p:txBody>
          <a:bodyPr wrap="square" lIns="0" tIns="0" rIns="0" bIns="0" rtlCol="0" anchor="ctr"/>
          <a:lstStyle/>
          <a:p>
            <a:pPr marL="0" indent="0" algn="ctr">
              <a:buNone/>
            </a:pPr>
            <a:r>
              <a:rPr lang="en-US" sz="1200" i="1" dirty="0">
                <a:solidFill>
                  <a:srgbClr val="5C6B7A"/>
                </a:solidFill>
                <a:latin typeface="Calibri" pitchFamily="34" charset="0"/>
                <a:ea typeface="Calibri" pitchFamily="34" charset="-122"/>
                <a:cs typeface="Calibri" pitchFamily="34" charset="-120"/>
              </a:rPr>
              <a:t>fixed by wavelength alone — a hard wall</a:t>
            </a:r>
            <a:endParaRPr lang="en-US" sz="1200" dirty="0"/>
          </a:p>
        </p:txBody>
      </p:sp>
      <p:sp>
        <p:nvSpPr>
          <p:cNvPr id="8" name="Text 5"/>
          <p:cNvSpPr/>
          <p:nvPr/>
        </p:nvSpPr>
        <p:spPr>
          <a:xfrm>
            <a:off x="1005840" y="3383280"/>
            <a:ext cx="7132320" cy="1097280"/>
          </a:xfrm>
          <a:prstGeom prst="rect">
            <a:avLst/>
          </a:prstGeom>
          <a:noFill/>
          <a:ln/>
        </p:spPr>
        <p:txBody>
          <a:bodyPr wrap="square" lIns="0" tIns="0" rIns="0" bIns="0" rtlCol="0" anchor="t"/>
          <a:lstStyle/>
          <a:p>
            <a:pPr marL="0" indent="0" algn="ctr">
              <a:buNone/>
            </a:pPr>
            <a:r>
              <a:rPr lang="en-US" sz="1500" dirty="0">
                <a:solidFill>
                  <a:srgbClr val="0E2A47"/>
                </a:solidFill>
                <a:latin typeface="Calibri" pitchFamily="34" charset="0"/>
                <a:ea typeface="Calibri" pitchFamily="34" charset="-122"/>
                <a:cs typeface="Calibri" pitchFamily="34" charset="-120"/>
              </a:rPr>
              <a:t>You only ever slide along one curve: long range or high Nyquist velocity, never both at once. A shorter wavelength (C-band) lowers the wall further.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Past the ceiling, it folds</a:t>
            </a:r>
            <a:endParaRPr lang="en-US" sz="2700" dirty="0"/>
          </a:p>
        </p:txBody>
      </p:sp>
      <p:sp>
        <p:nvSpPr>
          <p:cNvPr id="5" name="Shape 2"/>
          <p:cNvSpPr/>
          <p:nvPr/>
        </p:nvSpPr>
        <p:spPr>
          <a:xfrm>
            <a:off x="548640" y="1463040"/>
            <a:ext cx="3840480" cy="1691640"/>
          </a:xfrm>
          <a:prstGeom prst="roundRect">
            <a:avLst>
              <a:gd name="adj" fmla="val 4324"/>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700784"/>
            <a:ext cx="502920" cy="502920"/>
          </a:xfrm>
          <a:prstGeom prst="ellipse">
            <a:avLst/>
          </a:prstGeom>
          <a:solidFill>
            <a:srgbClr val="1C7293"/>
          </a:solidFill>
          <a:ln/>
        </p:spPr>
      </p:sp>
      <p:pic>
        <p:nvPicPr>
          <p:cNvPr id="7" name="Image 1" descr="preencoded.png"/>
          <p:cNvPicPr>
            <a:picLocks noChangeAspect="1"/>
          </p:cNvPicPr>
          <p:nvPr/>
        </p:nvPicPr>
        <p:blipFill>
          <a:blip r:embed="rId4"/>
          <a:stretch>
            <a:fillRect/>
          </a:stretch>
        </p:blipFill>
        <p:spPr>
          <a:xfrm>
            <a:off x="912114" y="1826514"/>
            <a:ext cx="251460" cy="251460"/>
          </a:xfrm>
          <a:prstGeom prst="rect">
            <a:avLst/>
          </a:prstGeom>
        </p:spPr>
      </p:pic>
      <p:sp>
        <p:nvSpPr>
          <p:cNvPr id="8" name="Text 4"/>
          <p:cNvSpPr/>
          <p:nvPr/>
        </p:nvSpPr>
        <p:spPr>
          <a:xfrm>
            <a:off x="1444752" y="1700784"/>
            <a:ext cx="274320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Range folding</a:t>
            </a:r>
            <a:endParaRPr lang="en-US" sz="1650" dirty="0"/>
          </a:p>
        </p:txBody>
      </p:sp>
      <p:sp>
        <p:nvSpPr>
          <p:cNvPr id="9" name="Text 5"/>
          <p:cNvSpPr/>
          <p:nvPr/>
        </p:nvSpPr>
        <p:spPr>
          <a:xfrm>
            <a:off x="804672" y="2304288"/>
            <a:ext cx="3328416" cy="72237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A storm beyond r_max is misplaced to a shorter range — or, in modern data, simply flagged and dropped.</a:t>
            </a:r>
            <a:endParaRPr lang="en-US" sz="1250" dirty="0"/>
          </a:p>
        </p:txBody>
      </p:sp>
      <p:sp>
        <p:nvSpPr>
          <p:cNvPr id="10" name="Shape 6"/>
          <p:cNvSpPr/>
          <p:nvPr/>
        </p:nvSpPr>
        <p:spPr>
          <a:xfrm>
            <a:off x="4572000" y="1463040"/>
            <a:ext cx="3840480" cy="1691640"/>
          </a:xfrm>
          <a:prstGeom prst="roundRect">
            <a:avLst>
              <a:gd name="adj" fmla="val 4324"/>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4809744" y="1700784"/>
            <a:ext cx="502920" cy="502920"/>
          </a:xfrm>
          <a:prstGeom prst="ellipse">
            <a:avLst/>
          </a:prstGeom>
          <a:solidFill>
            <a:srgbClr val="1C7293"/>
          </a:solidFill>
          <a:ln/>
        </p:spPr>
      </p:sp>
      <p:pic>
        <p:nvPicPr>
          <p:cNvPr id="12" name="Image 2" descr="preencoded.png"/>
          <p:cNvPicPr>
            <a:picLocks noChangeAspect="1"/>
          </p:cNvPicPr>
          <p:nvPr/>
        </p:nvPicPr>
        <p:blipFill>
          <a:blip r:embed="rId3"/>
          <a:stretch>
            <a:fillRect/>
          </a:stretch>
        </p:blipFill>
        <p:spPr>
          <a:xfrm>
            <a:off x="4935474" y="1826514"/>
            <a:ext cx="251460" cy="251460"/>
          </a:xfrm>
          <a:prstGeom prst="rect">
            <a:avLst/>
          </a:prstGeom>
        </p:spPr>
      </p:pic>
      <p:sp>
        <p:nvSpPr>
          <p:cNvPr id="13" name="Text 8"/>
          <p:cNvSpPr/>
          <p:nvPr/>
        </p:nvSpPr>
        <p:spPr>
          <a:xfrm>
            <a:off x="5468112" y="1700784"/>
            <a:ext cx="274320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Velocity aliasing</a:t>
            </a:r>
            <a:endParaRPr lang="en-US" sz="1650" dirty="0"/>
          </a:p>
        </p:txBody>
      </p:sp>
      <p:sp>
        <p:nvSpPr>
          <p:cNvPr id="14" name="Text 9"/>
          <p:cNvSpPr/>
          <p:nvPr/>
        </p:nvSpPr>
        <p:spPr>
          <a:xfrm>
            <a:off x="4828032" y="2304288"/>
            <a:ext cx="3328416" cy="72237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A storm faster than v_max reads as the wrong speed — even the wrong direction.</a:t>
            </a:r>
            <a:endParaRPr lang="en-US" sz="1250" dirty="0"/>
          </a:p>
        </p:txBody>
      </p:sp>
      <p:sp>
        <p:nvSpPr>
          <p:cNvPr id="15" name="Shape 10"/>
          <p:cNvSpPr/>
          <p:nvPr/>
        </p:nvSpPr>
        <p:spPr>
          <a:xfrm>
            <a:off x="548640" y="3401568"/>
            <a:ext cx="7863840" cy="548640"/>
          </a:xfrm>
          <a:prstGeom prst="roundRect">
            <a:avLst>
              <a:gd name="adj" fmla="val 15000"/>
            </a:avLst>
          </a:prstGeom>
          <a:solidFill>
            <a:srgbClr val="FBEFD7"/>
          </a:solidFill>
          <a:ln/>
          <a:effectLst>
            <a:outerShdw blurRad="88900" dist="38100" dir="5400000" algn="bl" rotWithShape="0">
              <a:srgbClr val="1A2433">
                <a:alpha val="16000"/>
              </a:srgbClr>
            </a:outerShdw>
          </a:effectLst>
        </p:spPr>
      </p:sp>
      <p:sp>
        <p:nvSpPr>
          <p:cNvPr id="16" name="Text 11"/>
          <p:cNvSpPr/>
          <p:nvPr/>
        </p:nvSpPr>
        <p:spPr>
          <a:xfrm>
            <a:off x="822960" y="3401568"/>
            <a:ext cx="7315200" cy="548640"/>
          </a:xfrm>
          <a:prstGeom prst="rect">
            <a:avLst/>
          </a:prstGeom>
          <a:noFill/>
          <a:ln/>
        </p:spPr>
        <p:txBody>
          <a:bodyPr wrap="square" lIns="0" tIns="0" rIns="0" bIns="0" rtlCol="0" anchor="ctr"/>
          <a:lstStyle/>
          <a:p>
            <a:pPr marL="0" indent="0" algn="ctr">
              <a:buNone/>
            </a:pPr>
            <a:r>
              <a:rPr lang="en-US" sz="1800" b="1" i="1" dirty="0">
                <a:solidFill>
                  <a:srgbClr val="9A6A12"/>
                </a:solidFill>
                <a:latin typeface="Cambria" pitchFamily="34" charset="0"/>
                <a:ea typeface="Cambria" pitchFamily="34" charset="-122"/>
                <a:cs typeface="Cambria" pitchFamily="34" charset="-120"/>
              </a:rPr>
              <a:t>These are sampling artifacts to read, not radar faults.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What you'll do</a:t>
            </a:r>
            <a:endParaRPr lang="en-US" sz="2700" dirty="0"/>
          </a:p>
        </p:txBody>
      </p:sp>
      <p:sp>
        <p:nvSpPr>
          <p:cNvPr id="5" name="Shape 2"/>
          <p:cNvSpPr/>
          <p:nvPr/>
        </p:nvSpPr>
        <p:spPr>
          <a:xfrm>
            <a:off x="548640" y="1371600"/>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577340"/>
            <a:ext cx="502920" cy="502920"/>
          </a:xfrm>
          <a:prstGeom prst="ellipse">
            <a:avLst/>
          </a:prstGeom>
          <a:solidFill>
            <a:srgbClr val="1C7293"/>
          </a:solidFill>
          <a:ln/>
        </p:spPr>
      </p:sp>
      <p:pic>
        <p:nvPicPr>
          <p:cNvPr id="7" name="Image 1" descr="preencoded.png"/>
          <p:cNvPicPr>
            <a:picLocks noChangeAspect="1"/>
          </p:cNvPicPr>
          <p:nvPr/>
        </p:nvPicPr>
        <p:blipFill>
          <a:blip r:embed="rId3"/>
          <a:stretch>
            <a:fillRect/>
          </a:stretch>
        </p:blipFill>
        <p:spPr>
          <a:xfrm>
            <a:off x="912114" y="1703070"/>
            <a:ext cx="251460" cy="251460"/>
          </a:xfrm>
          <a:prstGeom prst="rect">
            <a:avLst/>
          </a:prstGeom>
        </p:spPr>
      </p:pic>
      <p:sp>
        <p:nvSpPr>
          <p:cNvPr id="8" name="Text 4"/>
          <p:cNvSpPr/>
          <p:nvPr/>
        </p:nvSpPr>
        <p:spPr>
          <a:xfrm>
            <a:off x="1481328" y="1499616"/>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Three widgets</a:t>
            </a:r>
            <a:endParaRPr lang="en-US" sz="1600" dirty="0"/>
          </a:p>
        </p:txBody>
      </p:sp>
      <p:sp>
        <p:nvSpPr>
          <p:cNvPr id="9" name="Text 5"/>
          <p:cNvSpPr/>
          <p:nvPr/>
        </p:nvSpPr>
        <p:spPr>
          <a:xfrm>
            <a:off x="1481328" y="1801368"/>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Range folding · the Doppler dilemma · velocity aliasing.</a:t>
            </a:r>
            <a:endParaRPr lang="en-US" sz="1250" dirty="0"/>
          </a:p>
        </p:txBody>
      </p:sp>
      <p:sp>
        <p:nvSpPr>
          <p:cNvPr id="10" name="Shape 6"/>
          <p:cNvSpPr/>
          <p:nvPr/>
        </p:nvSpPr>
        <p:spPr>
          <a:xfrm>
            <a:off x="548640" y="2395728"/>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786384" y="2601468"/>
            <a:ext cx="502920" cy="502920"/>
          </a:xfrm>
          <a:prstGeom prst="ellipse">
            <a:avLst/>
          </a:prstGeom>
          <a:solidFill>
            <a:srgbClr val="1C7293"/>
          </a:solidFill>
          <a:ln/>
        </p:spPr>
      </p:sp>
      <p:pic>
        <p:nvPicPr>
          <p:cNvPr id="12" name="Image 2" descr="preencoded.png"/>
          <p:cNvPicPr>
            <a:picLocks noChangeAspect="1"/>
          </p:cNvPicPr>
          <p:nvPr/>
        </p:nvPicPr>
        <p:blipFill>
          <a:blip r:embed="rId4"/>
          <a:stretch>
            <a:fillRect/>
          </a:stretch>
        </p:blipFill>
        <p:spPr>
          <a:xfrm>
            <a:off x="912114" y="2727198"/>
            <a:ext cx="251460" cy="251460"/>
          </a:xfrm>
          <a:prstGeom prst="rect">
            <a:avLst/>
          </a:prstGeom>
        </p:spPr>
      </p:pic>
      <p:sp>
        <p:nvSpPr>
          <p:cNvPr id="13" name="Text 8"/>
          <p:cNvSpPr/>
          <p:nvPr/>
        </p:nvSpPr>
        <p:spPr>
          <a:xfrm>
            <a:off x="1481328" y="2523744"/>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Real data</a:t>
            </a:r>
            <a:endParaRPr lang="en-US" sz="1600" dirty="0"/>
          </a:p>
        </p:txBody>
      </p:sp>
      <p:sp>
        <p:nvSpPr>
          <p:cNvPr id="14" name="Text 9"/>
          <p:cNvSpPr/>
          <p:nvPr/>
        </p:nvSpPr>
        <p:spPr>
          <a:xfrm>
            <a:off x="1481328" y="2825496"/>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Hurricane Isabel (2003) — reflectivity and velocity side by side; spot the fold and the smaller velocity disk.</a:t>
            </a:r>
            <a:endParaRPr lang="en-US" sz="1250" dirty="0"/>
          </a:p>
        </p:txBody>
      </p:sp>
      <p:sp>
        <p:nvSpPr>
          <p:cNvPr id="15" name="Shape 10"/>
          <p:cNvSpPr/>
          <p:nvPr/>
        </p:nvSpPr>
        <p:spPr>
          <a:xfrm>
            <a:off x="548640" y="3529584"/>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sp>
      <p:sp>
        <p:nvSpPr>
          <p:cNvPr id="16" name="Shape 11"/>
          <p:cNvSpPr/>
          <p:nvPr/>
        </p:nvSpPr>
        <p:spPr>
          <a:xfrm>
            <a:off x="822960" y="3712464"/>
            <a:ext cx="548640" cy="548640"/>
          </a:xfrm>
          <a:prstGeom prst="ellipse">
            <a:avLst/>
          </a:prstGeom>
          <a:solidFill>
            <a:srgbClr val="E0A33E"/>
          </a:solidFill>
          <a:ln/>
        </p:spPr>
      </p:sp>
      <p:pic>
        <p:nvPicPr>
          <p:cNvPr id="17" name="Image 3" descr="preencoded.png"/>
          <p:cNvPicPr>
            <a:picLocks noChangeAspect="1"/>
          </p:cNvPicPr>
          <p:nvPr/>
        </p:nvPicPr>
        <p:blipFill>
          <a:blip r:embed="rId5"/>
          <a:stretch>
            <a:fillRect/>
          </a:stretch>
        </p:blipFill>
        <p:spPr>
          <a:xfrm>
            <a:off x="960120" y="3849624"/>
            <a:ext cx="274320" cy="274320"/>
          </a:xfrm>
          <a:prstGeom prst="rect">
            <a:avLst/>
          </a:prstGeom>
        </p:spPr>
      </p:pic>
      <p:sp>
        <p:nvSpPr>
          <p:cNvPr id="18" name="Text 12"/>
          <p:cNvSpPr/>
          <p:nvPr/>
        </p:nvSpPr>
        <p:spPr>
          <a:xfrm>
            <a:off x="1572768" y="3675888"/>
            <a:ext cx="6748272" cy="621792"/>
          </a:xfrm>
          <a:prstGeom prst="rect">
            <a:avLst/>
          </a:prstGeom>
          <a:noFill/>
          <a:ln/>
        </p:spPr>
        <p:txBody>
          <a:bodyPr wrap="square" lIns="0" tIns="0" rIns="0" bIns="0" rtlCol="0" anchor="ctr"/>
          <a:lstStyle/>
          <a:p>
            <a:pPr marL="0" indent="0">
              <a:buNone/>
            </a:pPr>
            <a:r>
              <a:rPr lang="en-US" sz="1050" b="1" kern="0" spc="200" dirty="0">
                <a:solidFill>
                  <a:srgbClr val="E0A33E"/>
                </a:solidFill>
                <a:latin typeface="Calibri" pitchFamily="34" charset="0"/>
                <a:ea typeface="Calibri" pitchFamily="34" charset="-122"/>
                <a:cs typeface="Calibri" pitchFamily="34" charset="-120"/>
              </a:rPr>
              <a:t>TAKEAWAY</a:t>
            </a:r>
            <a:endParaRPr lang="en-US" sz="1050" dirty="0"/>
          </a:p>
          <a:p>
            <a:pPr marL="0" indent="0">
              <a:buNone/>
            </a:pPr>
            <a:r>
              <a:rPr lang="en-US" sz="1350" dirty="0">
                <a:solidFill>
                  <a:srgbClr val="FFFFFF"/>
                </a:solidFill>
                <a:latin typeface="Calibri" pitchFamily="34" charset="0"/>
                <a:ea typeface="Calibri" pitchFamily="34" charset="-122"/>
                <a:cs typeface="Calibri" pitchFamily="34" charset="-120"/>
              </a:rPr>
              <a:t>Range and velocity share one pulse train, and r_max·v_max = cλ/8 is a wall — folding and aliasing are artifacts you learn to read.</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389888" y="5364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Discussion</a:t>
            </a:r>
            <a:endParaRPr lang="en-US" sz="2700" dirty="0"/>
          </a:p>
        </p:txBody>
      </p:sp>
      <p:sp>
        <p:nvSpPr>
          <p:cNvPr id="15" name="Shape 10"/>
          <p:cNvSpPr/>
          <p:nvPr/>
        </p:nvSpPr>
        <p:spPr>
          <a:xfrm>
            <a:off x="566928" y="1501439"/>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sp>
      <p:sp>
        <p:nvSpPr>
          <p:cNvPr id="16" name="Shape 11"/>
          <p:cNvSpPr/>
          <p:nvPr/>
        </p:nvSpPr>
        <p:spPr>
          <a:xfrm>
            <a:off x="841248" y="1684319"/>
            <a:ext cx="548640" cy="548640"/>
          </a:xfrm>
          <a:prstGeom prst="ellipse">
            <a:avLst/>
          </a:prstGeom>
          <a:solidFill>
            <a:srgbClr val="E0A33E"/>
          </a:solidFill>
          <a:ln/>
        </p:spPr>
      </p:sp>
      <p:pic>
        <p:nvPicPr>
          <p:cNvPr id="17" name="Image 3" descr="preencoded.png"/>
          <p:cNvPicPr>
            <a:picLocks noChangeAspect="1"/>
          </p:cNvPicPr>
          <p:nvPr/>
        </p:nvPicPr>
        <p:blipFill>
          <a:blip r:embed="rId4"/>
          <a:stretch>
            <a:fillRect/>
          </a:stretch>
        </p:blipFill>
        <p:spPr>
          <a:xfrm>
            <a:off x="982092" y="1821479"/>
            <a:ext cx="274320" cy="274320"/>
          </a:xfrm>
          <a:prstGeom prst="rect">
            <a:avLst/>
          </a:prstGeom>
        </p:spPr>
      </p:pic>
      <p:sp>
        <p:nvSpPr>
          <p:cNvPr id="18" name="Text 12"/>
          <p:cNvSpPr/>
          <p:nvPr/>
        </p:nvSpPr>
        <p:spPr>
          <a:xfrm>
            <a:off x="1591056" y="1647743"/>
            <a:ext cx="6748272" cy="62179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Velocity aliasing and range folding both come from the radar sampling in time, not from anything wrong with the hardware. Why is it useful to understand an artifact you can't eliminate — and how does knowing the cause change how you'd read the data?</a:t>
            </a:r>
            <a:endParaRPr lang="en-US" sz="1050" dirty="0"/>
          </a:p>
        </p:txBody>
      </p:sp>
      <p:sp>
        <p:nvSpPr>
          <p:cNvPr id="20" name="Shape 10">
            <a:extLst>
              <a:ext uri="{FF2B5EF4-FFF2-40B4-BE49-F238E27FC236}">
                <a16:creationId xmlns:a16="http://schemas.microsoft.com/office/drawing/2014/main" id="{553835F5-CBAE-4139-ABE4-1BC5618DEE3F}"/>
              </a:ext>
            </a:extLst>
          </p:cNvPr>
          <p:cNvSpPr/>
          <p:nvPr/>
        </p:nvSpPr>
        <p:spPr>
          <a:xfrm>
            <a:off x="566928" y="2598719"/>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sp>
      <p:sp>
        <p:nvSpPr>
          <p:cNvPr id="21" name="Shape 11">
            <a:extLst>
              <a:ext uri="{FF2B5EF4-FFF2-40B4-BE49-F238E27FC236}">
                <a16:creationId xmlns:a16="http://schemas.microsoft.com/office/drawing/2014/main" id="{1D387E5A-61F7-455A-9909-5E3BDA8A1FE8}"/>
              </a:ext>
            </a:extLst>
          </p:cNvPr>
          <p:cNvSpPr/>
          <p:nvPr/>
        </p:nvSpPr>
        <p:spPr>
          <a:xfrm>
            <a:off x="841248" y="2781599"/>
            <a:ext cx="548640" cy="548640"/>
          </a:xfrm>
          <a:prstGeom prst="ellipse">
            <a:avLst/>
          </a:prstGeom>
          <a:solidFill>
            <a:srgbClr val="E0A33E"/>
          </a:solidFill>
          <a:ln/>
        </p:spPr>
      </p:sp>
      <p:pic>
        <p:nvPicPr>
          <p:cNvPr id="22" name="Image 3" descr="preencoded.png">
            <a:extLst>
              <a:ext uri="{FF2B5EF4-FFF2-40B4-BE49-F238E27FC236}">
                <a16:creationId xmlns:a16="http://schemas.microsoft.com/office/drawing/2014/main" id="{01390C2A-10F8-442C-9DD5-7526707658FD}"/>
              </a:ext>
            </a:extLst>
          </p:cNvPr>
          <p:cNvPicPr>
            <a:picLocks noChangeAspect="1"/>
          </p:cNvPicPr>
          <p:nvPr/>
        </p:nvPicPr>
        <p:blipFill>
          <a:blip r:embed="rId4"/>
          <a:stretch>
            <a:fillRect/>
          </a:stretch>
        </p:blipFill>
        <p:spPr>
          <a:xfrm>
            <a:off x="982092" y="2918759"/>
            <a:ext cx="274320" cy="274320"/>
          </a:xfrm>
          <a:prstGeom prst="rect">
            <a:avLst/>
          </a:prstGeom>
        </p:spPr>
      </p:pic>
      <p:sp>
        <p:nvSpPr>
          <p:cNvPr id="23" name="Text 12">
            <a:extLst>
              <a:ext uri="{FF2B5EF4-FFF2-40B4-BE49-F238E27FC236}">
                <a16:creationId xmlns:a16="http://schemas.microsoft.com/office/drawing/2014/main" id="{1C1E7AF8-3806-4285-97E7-4475CBB908FD}"/>
              </a:ext>
            </a:extLst>
          </p:cNvPr>
          <p:cNvSpPr/>
          <p:nvPr/>
        </p:nvSpPr>
        <p:spPr>
          <a:xfrm>
            <a:off x="1591056" y="2745023"/>
            <a:ext cx="6748272" cy="62179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If you had to choose between a radar that sees very far but can't measure fast winds, and one that measures fast winds but only nearby, what kinds of weather would push you toward each?</a:t>
            </a:r>
            <a:endParaRPr lang="en-US" sz="1050" dirty="0"/>
          </a:p>
        </p:txBody>
      </p:sp>
      <p:sp>
        <p:nvSpPr>
          <p:cNvPr id="24" name="Shape 0">
            <a:extLst>
              <a:ext uri="{FF2B5EF4-FFF2-40B4-BE49-F238E27FC236}">
                <a16:creationId xmlns:a16="http://schemas.microsoft.com/office/drawing/2014/main" id="{46DD00A4-40F3-4367-8458-B08BAB039F83}"/>
              </a:ext>
            </a:extLst>
          </p:cNvPr>
          <p:cNvSpPr/>
          <p:nvPr/>
        </p:nvSpPr>
        <p:spPr>
          <a:xfrm>
            <a:off x="701040" y="536448"/>
            <a:ext cx="566928" cy="566928"/>
          </a:xfrm>
          <a:prstGeom prst="ellipse">
            <a:avLst/>
          </a:prstGeom>
          <a:solidFill>
            <a:srgbClr val="1C7293"/>
          </a:solidFill>
          <a:ln/>
        </p:spPr>
      </p:sp>
      <p:pic>
        <p:nvPicPr>
          <p:cNvPr id="25" name="Image 0" descr="preencoded.png">
            <a:extLst>
              <a:ext uri="{FF2B5EF4-FFF2-40B4-BE49-F238E27FC236}">
                <a16:creationId xmlns:a16="http://schemas.microsoft.com/office/drawing/2014/main" id="{299851C2-A12B-4B36-A5EF-F1FEEE11F9C7}"/>
              </a:ext>
            </a:extLst>
          </p:cNvPr>
          <p:cNvPicPr>
            <a:picLocks noChangeAspect="1"/>
          </p:cNvPicPr>
          <p:nvPr/>
        </p:nvPicPr>
        <p:blipFill>
          <a:blip r:embed="rId3"/>
          <a:stretch>
            <a:fillRect/>
          </a:stretch>
        </p:blipFill>
        <p:spPr>
          <a:xfrm>
            <a:off x="842772" y="678180"/>
            <a:ext cx="283464" cy="283464"/>
          </a:xfrm>
          <a:prstGeom prst="rect">
            <a:avLst/>
          </a:prstGeom>
        </p:spPr>
      </p:pic>
    </p:spTree>
    <p:extLst>
      <p:ext uri="{BB962C8B-B14F-4D97-AF65-F5344CB8AC3E}">
        <p14:creationId xmlns:p14="http://schemas.microsoft.com/office/powerpoint/2010/main" val="571560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0E2A47"/>
        </a:solidFill>
        <a:effectLst/>
      </p:bgPr>
    </p:bg>
    <p:spTree>
      <p:nvGrpSpPr>
        <p:cNvPr id="1" name=""/>
        <p:cNvGrpSpPr/>
        <p:nvPr/>
      </p:nvGrpSpPr>
      <p:grpSpPr>
        <a:xfrm>
          <a:off x="0" y="0"/>
          <a:ext cx="0" cy="0"/>
          <a:chOff x="0" y="0"/>
          <a:chExt cx="0" cy="0"/>
        </a:xfrm>
      </p:grpSpPr>
      <p:sp>
        <p:nvSpPr>
          <p:cNvPr id="2" name="Text 0"/>
          <p:cNvSpPr/>
          <p:nvPr/>
        </p:nvSpPr>
        <p:spPr>
          <a:xfrm>
            <a:off x="5486400" y="-320040"/>
            <a:ext cx="3566160" cy="3108960"/>
          </a:xfrm>
          <a:prstGeom prst="rect">
            <a:avLst/>
          </a:prstGeom>
          <a:noFill/>
          <a:ln/>
        </p:spPr>
        <p:txBody>
          <a:bodyPr wrap="square" lIns="0" tIns="0" rIns="0" bIns="0" rtlCol="0" anchor="t"/>
          <a:lstStyle/>
          <a:p>
            <a:pPr marL="0" indent="0" algn="r">
              <a:buNone/>
            </a:pPr>
            <a:r>
              <a:rPr lang="en-US" sz="20000" b="1" dirty="0">
                <a:solidFill>
                  <a:srgbClr val="183B5E"/>
                </a:solidFill>
                <a:latin typeface="Cambria" pitchFamily="34" charset="0"/>
                <a:ea typeface="Cambria" pitchFamily="34" charset="-122"/>
                <a:cs typeface="Cambria" pitchFamily="34" charset="-120"/>
              </a:rPr>
              <a:t>04</a:t>
            </a:r>
            <a:endParaRPr lang="en-US" sz="20000" dirty="0"/>
          </a:p>
        </p:txBody>
      </p:sp>
      <p:sp>
        <p:nvSpPr>
          <p:cNvPr id="3" name="Shape 1"/>
          <p:cNvSpPr/>
          <p:nvPr/>
        </p:nvSpPr>
        <p:spPr>
          <a:xfrm>
            <a:off x="640080" y="731520"/>
            <a:ext cx="914400" cy="914400"/>
          </a:xfrm>
          <a:prstGeom prst="ellipse">
            <a:avLst/>
          </a:prstGeom>
          <a:solidFill>
            <a:srgbClr val="E0A33E"/>
          </a:solidFill>
          <a:ln/>
        </p:spPr>
      </p:sp>
      <p:pic>
        <p:nvPicPr>
          <p:cNvPr id="4" name="Image 0" descr="preencoded.png"/>
          <p:cNvPicPr>
            <a:picLocks noChangeAspect="1"/>
          </p:cNvPicPr>
          <p:nvPr/>
        </p:nvPicPr>
        <p:blipFill>
          <a:blip r:embed="rId3"/>
          <a:stretch>
            <a:fillRect/>
          </a:stretch>
        </p:blipFill>
        <p:spPr>
          <a:xfrm>
            <a:off x="868680" y="960120"/>
            <a:ext cx="457200" cy="457200"/>
          </a:xfrm>
          <a:prstGeom prst="rect">
            <a:avLst/>
          </a:prstGeom>
        </p:spPr>
      </p:pic>
      <p:sp>
        <p:nvSpPr>
          <p:cNvPr id="5" name="Text 2"/>
          <p:cNvSpPr/>
          <p:nvPr/>
        </p:nvSpPr>
        <p:spPr>
          <a:xfrm>
            <a:off x="676656" y="1810512"/>
            <a:ext cx="4572000" cy="365760"/>
          </a:xfrm>
          <a:prstGeom prst="rect">
            <a:avLst/>
          </a:prstGeom>
          <a:noFill/>
          <a:ln/>
        </p:spPr>
        <p:txBody>
          <a:bodyPr wrap="square" lIns="0" tIns="0" rIns="0" bIns="0" rtlCol="0" anchor="ctr"/>
          <a:lstStyle/>
          <a:p>
            <a:pPr marL="0" indent="0">
              <a:buNone/>
            </a:pPr>
            <a:r>
              <a:rPr lang="en-US" sz="1400" b="1" kern="0" spc="300" dirty="0">
                <a:solidFill>
                  <a:srgbClr val="E0A33E"/>
                </a:solidFill>
                <a:latin typeface="Calibri" pitchFamily="34" charset="0"/>
                <a:ea typeface="Calibri" pitchFamily="34" charset="-122"/>
                <a:cs typeface="Calibri" pitchFamily="34" charset="-120"/>
              </a:rPr>
              <a:t>BLOCK 04</a:t>
            </a:r>
            <a:endParaRPr lang="en-US" sz="1400" dirty="0"/>
          </a:p>
        </p:txBody>
      </p:sp>
      <p:sp>
        <p:nvSpPr>
          <p:cNvPr id="6" name="Text 3"/>
          <p:cNvSpPr/>
          <p:nvPr/>
        </p:nvSpPr>
        <p:spPr>
          <a:xfrm>
            <a:off x="621792" y="2121408"/>
            <a:ext cx="7955280" cy="9144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Wavelength, weather &amp; the scan</a:t>
            </a:r>
            <a:endParaRPr lang="en-US" sz="4000" dirty="0"/>
          </a:p>
        </p:txBody>
      </p:sp>
      <p:sp>
        <p:nvSpPr>
          <p:cNvPr id="7" name="Text 4"/>
          <p:cNvSpPr/>
          <p:nvPr/>
        </p:nvSpPr>
        <p:spPr>
          <a:xfrm>
            <a:off x="658368" y="3127248"/>
            <a:ext cx="7955280" cy="502920"/>
          </a:xfrm>
          <a:prstGeom prst="rect">
            <a:avLst/>
          </a:prstGeom>
          <a:noFill/>
          <a:ln/>
        </p:spPr>
        <p:txBody>
          <a:bodyPr wrap="square" lIns="0" tIns="0" rIns="0" bIns="0" rtlCol="0" anchor="ctr"/>
          <a:lstStyle/>
          <a:p>
            <a:pPr marL="0" indent="0">
              <a:buNone/>
            </a:pPr>
            <a:r>
              <a:rPr lang="en-US" sz="1800" i="1" dirty="0">
                <a:solidFill>
                  <a:srgbClr val="A9CBD8"/>
                </a:solidFill>
                <a:latin typeface="Cambria" pitchFamily="34" charset="0"/>
                <a:ea typeface="Cambria" pitchFamily="34" charset="-122"/>
                <a:cs typeface="Cambria" pitchFamily="34" charset="-120"/>
              </a:rPr>
              <a:t>How does wavelength shape what you see, and how do you assemble a volume?</a:t>
            </a:r>
            <a:endParaRPr lang="en-US" sz="1800" dirty="0"/>
          </a:p>
        </p:txBody>
      </p:sp>
      <p:sp>
        <p:nvSpPr>
          <p:cNvPr id="8" name="Text 5"/>
          <p:cNvSpPr/>
          <p:nvPr/>
        </p:nvSpPr>
        <p:spPr>
          <a:xfrm>
            <a:off x="658368" y="3822192"/>
            <a:ext cx="7955280" cy="822960"/>
          </a:xfrm>
          <a:prstGeom prst="rect">
            <a:avLst/>
          </a:prstGeom>
          <a:noFill/>
          <a:ln/>
        </p:spPr>
        <p:txBody>
          <a:bodyPr wrap="square" lIns="0" tIns="0" rIns="0" bIns="0" rtlCol="0" anchor="t"/>
          <a:lstStyle/>
          <a:p>
            <a:pPr marL="0" indent="0">
              <a:buNone/>
            </a:pPr>
            <a:r>
              <a:rPr lang="en-US" sz="1500" dirty="0">
                <a:solidFill>
                  <a:srgbClr val="DCE7EE"/>
                </a:solidFill>
                <a:latin typeface="Calibri" pitchFamily="34" charset="0"/>
                <a:ea typeface="Calibri" pitchFamily="34" charset="-122"/>
                <a:cs typeface="Calibri" pitchFamily="34" charset="-120"/>
              </a:rPr>
              <a:t>Your networks run C-band — and the wavelength decides what you see.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Shorter wavelength, bigger price</a:t>
            </a:r>
            <a:endParaRPr lang="en-US" sz="2700" dirty="0"/>
          </a:p>
        </p:txBody>
      </p:sp>
      <p:sp>
        <p:nvSpPr>
          <p:cNvPr id="5" name="Shape 2"/>
          <p:cNvSpPr/>
          <p:nvPr/>
        </p:nvSpPr>
        <p:spPr>
          <a:xfrm>
            <a:off x="502920" y="1600200"/>
            <a:ext cx="2606040" cy="2286000"/>
          </a:xfrm>
          <a:prstGeom prst="roundRect">
            <a:avLst>
              <a:gd name="adj" fmla="val 3200"/>
            </a:avLst>
          </a:prstGeom>
          <a:solidFill>
            <a:srgbClr val="F1F6F8"/>
          </a:solidFill>
          <a:ln/>
          <a:effectLst>
            <a:outerShdw blurRad="88900" dist="38100" dir="5400000" algn="bl" rotWithShape="0">
              <a:srgbClr val="1A2433">
                <a:alpha val="16000"/>
              </a:srgbClr>
            </a:outerShdw>
          </a:effectLst>
        </p:spPr>
      </p:sp>
      <p:sp>
        <p:nvSpPr>
          <p:cNvPr id="6" name="Text 3"/>
          <p:cNvSpPr/>
          <p:nvPr/>
        </p:nvSpPr>
        <p:spPr>
          <a:xfrm>
            <a:off x="777240" y="1783080"/>
            <a:ext cx="2057400" cy="36576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S-band  ·  10 cm</a:t>
            </a:r>
            <a:endParaRPr lang="en-US" sz="1600" dirty="0"/>
          </a:p>
        </p:txBody>
      </p:sp>
      <p:sp>
        <p:nvSpPr>
          <p:cNvPr id="7" name="Text 4"/>
          <p:cNvSpPr/>
          <p:nvPr/>
        </p:nvSpPr>
        <p:spPr>
          <a:xfrm>
            <a:off x="813816" y="2221992"/>
            <a:ext cx="2039112" cy="1499616"/>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Attenuation negligible</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Reaches through heavy cores</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Big dish, long range (NEXRAD)</a:t>
            </a:r>
            <a:endParaRPr lang="en-US" sz="1300" dirty="0"/>
          </a:p>
        </p:txBody>
      </p:sp>
      <p:sp>
        <p:nvSpPr>
          <p:cNvPr id="8" name="Shape 5"/>
          <p:cNvSpPr/>
          <p:nvPr/>
        </p:nvSpPr>
        <p:spPr>
          <a:xfrm>
            <a:off x="3273552" y="1600200"/>
            <a:ext cx="2606040" cy="2286000"/>
          </a:xfrm>
          <a:prstGeom prst="roundRect">
            <a:avLst>
              <a:gd name="adj" fmla="val 3200"/>
            </a:avLst>
          </a:prstGeom>
          <a:solidFill>
            <a:srgbClr val="F1F6F8"/>
          </a:solidFill>
          <a:ln/>
          <a:effectLst>
            <a:outerShdw blurRad="88900" dist="38100" dir="5400000" algn="bl" rotWithShape="0">
              <a:srgbClr val="1A2433">
                <a:alpha val="16000"/>
              </a:srgbClr>
            </a:outerShdw>
          </a:effectLst>
        </p:spPr>
      </p:sp>
      <p:sp>
        <p:nvSpPr>
          <p:cNvPr id="9" name="Text 6"/>
          <p:cNvSpPr/>
          <p:nvPr/>
        </p:nvSpPr>
        <p:spPr>
          <a:xfrm>
            <a:off x="3547872" y="1783080"/>
            <a:ext cx="2057400" cy="365760"/>
          </a:xfrm>
          <a:prstGeom prst="rect">
            <a:avLst/>
          </a:prstGeom>
          <a:noFill/>
          <a:ln/>
        </p:spPr>
        <p:txBody>
          <a:bodyPr wrap="square" lIns="0" tIns="0" rIns="0" bIns="0" rtlCol="0" anchor="ctr"/>
          <a:lstStyle/>
          <a:p>
            <a:pPr marL="0" indent="0">
              <a:buNone/>
            </a:pPr>
            <a:r>
              <a:rPr lang="en-US" sz="1600" b="1" dirty="0">
                <a:solidFill>
                  <a:srgbClr val="E0A33E"/>
                </a:solidFill>
                <a:latin typeface="Calibri" pitchFamily="34" charset="0"/>
                <a:ea typeface="Calibri" pitchFamily="34" charset="-122"/>
                <a:cs typeface="Calibri" pitchFamily="34" charset="-120"/>
              </a:rPr>
              <a:t>C-band  ·  5 cm</a:t>
            </a:r>
            <a:endParaRPr lang="en-US" sz="1600" dirty="0"/>
          </a:p>
        </p:txBody>
      </p:sp>
      <p:sp>
        <p:nvSpPr>
          <p:cNvPr id="10" name="Text 7"/>
          <p:cNvSpPr/>
          <p:nvPr/>
        </p:nvSpPr>
        <p:spPr>
          <a:xfrm>
            <a:off x="3584448" y="2221992"/>
            <a:ext cx="2039112" cy="1499616"/>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Attenuation is real</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Most African networks</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Smaller dish, more sensitive</a:t>
            </a:r>
            <a:endParaRPr lang="en-US" sz="1300" dirty="0"/>
          </a:p>
        </p:txBody>
      </p:sp>
      <p:sp>
        <p:nvSpPr>
          <p:cNvPr id="11" name="Shape 8"/>
          <p:cNvSpPr/>
          <p:nvPr/>
        </p:nvSpPr>
        <p:spPr>
          <a:xfrm>
            <a:off x="6035040" y="1600200"/>
            <a:ext cx="2606040" cy="2286000"/>
          </a:xfrm>
          <a:prstGeom prst="roundRect">
            <a:avLst>
              <a:gd name="adj" fmla="val 3200"/>
            </a:avLst>
          </a:prstGeom>
          <a:solidFill>
            <a:srgbClr val="F1F6F8"/>
          </a:solidFill>
          <a:ln/>
          <a:effectLst>
            <a:outerShdw blurRad="88900" dist="38100" dir="5400000" algn="bl" rotWithShape="0">
              <a:srgbClr val="1A2433">
                <a:alpha val="16000"/>
              </a:srgbClr>
            </a:outerShdw>
          </a:effectLst>
        </p:spPr>
      </p:sp>
      <p:sp>
        <p:nvSpPr>
          <p:cNvPr id="12" name="Text 9"/>
          <p:cNvSpPr/>
          <p:nvPr/>
        </p:nvSpPr>
        <p:spPr>
          <a:xfrm>
            <a:off x="6309360" y="1783080"/>
            <a:ext cx="2057400" cy="36576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X-band  ·  3 cm</a:t>
            </a:r>
            <a:endParaRPr lang="en-US" sz="1600" dirty="0"/>
          </a:p>
        </p:txBody>
      </p:sp>
      <p:sp>
        <p:nvSpPr>
          <p:cNvPr id="13" name="Text 10"/>
          <p:cNvSpPr/>
          <p:nvPr/>
        </p:nvSpPr>
        <p:spPr>
          <a:xfrm>
            <a:off x="6345936" y="2221992"/>
            <a:ext cx="2039112" cy="1499616"/>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Attenuation severe</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Cores can be wiped out</a:t>
            </a:r>
            <a:endParaRPr lang="en-US" sz="1300" dirty="0"/>
          </a:p>
          <a:p>
            <a:pPr marL="342900" indent="-342900">
              <a:spcAft>
                <a:spcPts val="700"/>
              </a:spcAft>
              <a:buSzPct val="100000"/>
              <a:buChar char="•"/>
            </a:pPr>
            <a:r>
              <a:rPr lang="en-US" sz="1300" dirty="0">
                <a:solidFill>
                  <a:srgbClr val="0E2A47"/>
                </a:solidFill>
                <a:latin typeface="Calibri" pitchFamily="34" charset="0"/>
                <a:ea typeface="Calibri" pitchFamily="34" charset="-122"/>
                <a:cs typeface="Calibri" pitchFamily="34" charset="-120"/>
              </a:rPr>
              <a:t>Compact / gap-filler radars</a:t>
            </a:r>
            <a:endParaRPr lang="en-US" sz="1300" dirty="0"/>
          </a:p>
        </p:txBody>
      </p:sp>
      <p:sp>
        <p:nvSpPr>
          <p:cNvPr id="14" name="Text 11"/>
          <p:cNvSpPr/>
          <p:nvPr/>
        </p:nvSpPr>
        <p:spPr>
          <a:xfrm>
            <a:off x="502920" y="4114800"/>
            <a:ext cx="8138160" cy="457200"/>
          </a:xfrm>
          <a:prstGeom prst="rect">
            <a:avLst/>
          </a:prstGeom>
          <a:noFill/>
          <a:ln/>
        </p:spPr>
        <p:txBody>
          <a:bodyPr wrap="square" lIns="0" tIns="0" rIns="0" bIns="0" rtlCol="0" anchor="ctr"/>
          <a:lstStyle/>
          <a:p>
            <a:pPr marL="0" indent="0" algn="ctr">
              <a:buNone/>
            </a:pPr>
            <a:r>
              <a:rPr lang="en-US" sz="1350" i="1" dirty="0">
                <a:solidFill>
                  <a:srgbClr val="5C6B7A"/>
                </a:solidFill>
                <a:latin typeface="Calibri" pitchFamily="34" charset="0"/>
                <a:ea typeface="Calibri" pitchFamily="34" charset="-122"/>
                <a:cs typeface="Calibri" pitchFamily="34" charset="-120"/>
              </a:rPr>
              <a:t>A shorter wavelength buys a finer beam from a smaller dish — but rain absorbs and scatters it more.</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The competition</a:t>
            </a:r>
            <a:endParaRPr lang="en-US" sz="2700" dirty="0"/>
          </a:p>
        </p:txBody>
      </p:sp>
      <p:sp>
        <p:nvSpPr>
          <p:cNvPr id="5" name="Shape 2"/>
          <p:cNvSpPr/>
          <p:nvPr/>
        </p:nvSpPr>
        <p:spPr>
          <a:xfrm>
            <a:off x="548640" y="1463040"/>
            <a:ext cx="3840480" cy="1691640"/>
          </a:xfrm>
          <a:prstGeom prst="roundRect">
            <a:avLst>
              <a:gd name="adj" fmla="val 4324"/>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700784"/>
            <a:ext cx="502920" cy="502920"/>
          </a:xfrm>
          <a:prstGeom prst="ellipse">
            <a:avLst/>
          </a:prstGeom>
          <a:solidFill>
            <a:srgbClr val="1C7293"/>
          </a:solidFill>
          <a:ln/>
        </p:spPr>
      </p:sp>
      <p:pic>
        <p:nvPicPr>
          <p:cNvPr id="7" name="Image 1" descr="preencoded.png"/>
          <p:cNvPicPr>
            <a:picLocks noChangeAspect="1"/>
          </p:cNvPicPr>
          <p:nvPr/>
        </p:nvPicPr>
        <p:blipFill>
          <a:blip r:embed="rId3"/>
          <a:stretch>
            <a:fillRect/>
          </a:stretch>
        </p:blipFill>
        <p:spPr>
          <a:xfrm>
            <a:off x="912114" y="1826514"/>
            <a:ext cx="251460" cy="251460"/>
          </a:xfrm>
          <a:prstGeom prst="rect">
            <a:avLst/>
          </a:prstGeom>
        </p:spPr>
      </p:pic>
      <p:sp>
        <p:nvSpPr>
          <p:cNvPr id="8" name="Text 4"/>
          <p:cNvSpPr/>
          <p:nvPr/>
        </p:nvSpPr>
        <p:spPr>
          <a:xfrm>
            <a:off x="1444752" y="1700784"/>
            <a:ext cx="274320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More sensitive</a:t>
            </a:r>
            <a:endParaRPr lang="en-US" sz="1650" dirty="0"/>
          </a:p>
        </p:txBody>
      </p:sp>
      <p:sp>
        <p:nvSpPr>
          <p:cNvPr id="9" name="Text 5"/>
          <p:cNvSpPr/>
          <p:nvPr/>
        </p:nvSpPr>
        <p:spPr>
          <a:xfrm>
            <a:off x="804672" y="2304288"/>
            <a:ext cx="3328416" cy="72237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A shorter wavelength detects weaker echoes at the same dish (the 1/λ⁴ term).</a:t>
            </a:r>
            <a:endParaRPr lang="en-US" sz="1250" dirty="0"/>
          </a:p>
        </p:txBody>
      </p:sp>
      <p:sp>
        <p:nvSpPr>
          <p:cNvPr id="10" name="Shape 6"/>
          <p:cNvSpPr/>
          <p:nvPr/>
        </p:nvSpPr>
        <p:spPr>
          <a:xfrm>
            <a:off x="4572000" y="1463040"/>
            <a:ext cx="3840480" cy="1691640"/>
          </a:xfrm>
          <a:prstGeom prst="roundRect">
            <a:avLst>
              <a:gd name="adj" fmla="val 4324"/>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4809744" y="1700784"/>
            <a:ext cx="502920" cy="502920"/>
          </a:xfrm>
          <a:prstGeom prst="ellipse">
            <a:avLst/>
          </a:prstGeom>
          <a:solidFill>
            <a:srgbClr val="1C7293"/>
          </a:solidFill>
          <a:ln/>
        </p:spPr>
      </p:sp>
      <p:pic>
        <p:nvPicPr>
          <p:cNvPr id="12" name="Image 2" descr="preencoded.png"/>
          <p:cNvPicPr>
            <a:picLocks noChangeAspect="1"/>
          </p:cNvPicPr>
          <p:nvPr/>
        </p:nvPicPr>
        <p:blipFill>
          <a:blip r:embed="rId4"/>
          <a:stretch>
            <a:fillRect/>
          </a:stretch>
        </p:blipFill>
        <p:spPr>
          <a:xfrm>
            <a:off x="4935474" y="1826514"/>
            <a:ext cx="251460" cy="251460"/>
          </a:xfrm>
          <a:prstGeom prst="rect">
            <a:avLst/>
          </a:prstGeom>
        </p:spPr>
      </p:pic>
      <p:sp>
        <p:nvSpPr>
          <p:cNvPr id="13" name="Text 8"/>
          <p:cNvSpPr/>
          <p:nvPr/>
        </p:nvSpPr>
        <p:spPr>
          <a:xfrm>
            <a:off x="5468112" y="1700784"/>
            <a:ext cx="2743200" cy="502920"/>
          </a:xfrm>
          <a:prstGeom prst="rect">
            <a:avLst/>
          </a:prstGeom>
          <a:noFill/>
          <a:ln/>
        </p:spPr>
        <p:txBody>
          <a:bodyPr wrap="square" lIns="0" tIns="0" rIns="0" bIns="0" rtlCol="0" anchor="ctr"/>
          <a:lstStyle/>
          <a:p>
            <a:pPr marL="0" indent="0">
              <a:buNone/>
            </a:pPr>
            <a:r>
              <a:rPr lang="en-US" sz="1650" b="1" dirty="0">
                <a:solidFill>
                  <a:srgbClr val="0E2A47"/>
                </a:solidFill>
                <a:latin typeface="Calibri" pitchFamily="34" charset="0"/>
                <a:ea typeface="Calibri" pitchFamily="34" charset="-122"/>
                <a:cs typeface="Calibri" pitchFamily="34" charset="-120"/>
              </a:rPr>
              <a:t>But attenuates more</a:t>
            </a:r>
            <a:endParaRPr lang="en-US" sz="1650" dirty="0"/>
          </a:p>
        </p:txBody>
      </p:sp>
      <p:sp>
        <p:nvSpPr>
          <p:cNvPr id="14" name="Text 9"/>
          <p:cNvSpPr/>
          <p:nvPr/>
        </p:nvSpPr>
        <p:spPr>
          <a:xfrm>
            <a:off x="4828032" y="2304288"/>
            <a:ext cx="3328416" cy="722376"/>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And the loss grows with range — it's a path integral through the rain.</a:t>
            </a:r>
            <a:endParaRPr lang="en-US" sz="1250" dirty="0"/>
          </a:p>
        </p:txBody>
      </p:sp>
      <p:sp>
        <p:nvSpPr>
          <p:cNvPr id="15" name="Shape 10"/>
          <p:cNvSpPr/>
          <p:nvPr/>
        </p:nvSpPr>
        <p:spPr>
          <a:xfrm>
            <a:off x="548640" y="3401568"/>
            <a:ext cx="7863840" cy="548640"/>
          </a:xfrm>
          <a:prstGeom prst="roundRect">
            <a:avLst>
              <a:gd name="adj" fmla="val 15000"/>
            </a:avLst>
          </a:prstGeom>
          <a:solidFill>
            <a:srgbClr val="FBEFD7"/>
          </a:solidFill>
          <a:ln/>
          <a:effectLst>
            <a:outerShdw blurRad="88900" dist="38100" dir="5400000" algn="bl" rotWithShape="0">
              <a:srgbClr val="1A2433">
                <a:alpha val="16000"/>
              </a:srgbClr>
            </a:outerShdw>
          </a:effectLst>
        </p:spPr>
      </p:sp>
      <p:sp>
        <p:nvSpPr>
          <p:cNvPr id="16" name="Text 11"/>
          <p:cNvSpPr/>
          <p:nvPr/>
        </p:nvSpPr>
        <p:spPr>
          <a:xfrm>
            <a:off x="822960" y="3401568"/>
            <a:ext cx="7315200" cy="548640"/>
          </a:xfrm>
          <a:prstGeom prst="rect">
            <a:avLst/>
          </a:prstGeom>
          <a:noFill/>
          <a:ln/>
        </p:spPr>
        <p:txBody>
          <a:bodyPr wrap="square" lIns="0" tIns="0" rIns="0" bIns="0" rtlCol="0" anchor="ctr"/>
          <a:lstStyle/>
          <a:p>
            <a:pPr marL="0" indent="0" algn="ctr">
              <a:buNone/>
            </a:pPr>
            <a:r>
              <a:rPr lang="en-US" sz="1800" b="1" i="1" dirty="0">
                <a:solidFill>
                  <a:srgbClr val="9A6A12"/>
                </a:solidFill>
                <a:latin typeface="Cambria" pitchFamily="34" charset="0"/>
                <a:ea typeface="Cambria" pitchFamily="34" charset="-122"/>
                <a:cs typeface="Cambria" pitchFamily="34" charset="-120"/>
              </a:rPr>
              <a:t>Which band sees a distant storm? Whichever wins the crossover.</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A scan is many beams in finite time</a:t>
            </a:r>
            <a:endParaRPr lang="en-US" sz="2700" dirty="0"/>
          </a:p>
        </p:txBody>
      </p:sp>
      <p:sp>
        <p:nvSpPr>
          <p:cNvPr id="5" name="Shape 2"/>
          <p:cNvSpPr/>
          <p:nvPr/>
        </p:nvSpPr>
        <p:spPr>
          <a:xfrm>
            <a:off x="548640" y="1371600"/>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577340"/>
            <a:ext cx="502920" cy="502920"/>
          </a:xfrm>
          <a:prstGeom prst="ellipse">
            <a:avLst/>
          </a:prstGeom>
          <a:solidFill>
            <a:srgbClr val="1C7293"/>
          </a:solidFill>
          <a:ln/>
        </p:spPr>
      </p:sp>
      <p:pic>
        <p:nvPicPr>
          <p:cNvPr id="7" name="Image 1" descr="preencoded.png"/>
          <p:cNvPicPr>
            <a:picLocks noChangeAspect="1"/>
          </p:cNvPicPr>
          <p:nvPr/>
        </p:nvPicPr>
        <p:blipFill>
          <a:blip r:embed="rId3"/>
          <a:stretch>
            <a:fillRect/>
          </a:stretch>
        </p:blipFill>
        <p:spPr>
          <a:xfrm>
            <a:off x="912114" y="1703070"/>
            <a:ext cx="251460" cy="251460"/>
          </a:xfrm>
          <a:prstGeom prst="rect">
            <a:avLst/>
          </a:prstGeom>
        </p:spPr>
      </p:pic>
      <p:sp>
        <p:nvSpPr>
          <p:cNvPr id="8" name="Text 4"/>
          <p:cNvSpPr/>
          <p:nvPr/>
        </p:nvSpPr>
        <p:spPr>
          <a:xfrm>
            <a:off x="1481328" y="1499616"/>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Cone of silence</a:t>
            </a:r>
            <a:endParaRPr lang="en-US" sz="1600" dirty="0"/>
          </a:p>
        </p:txBody>
      </p:sp>
      <p:sp>
        <p:nvSpPr>
          <p:cNvPr id="9" name="Text 5"/>
          <p:cNvSpPr/>
          <p:nvPr/>
        </p:nvSpPr>
        <p:spPr>
          <a:xfrm>
            <a:off x="1481328" y="1801368"/>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Nothing is sampled above the top tilt — a blind cone directly over the radar.</a:t>
            </a:r>
            <a:endParaRPr lang="en-US" sz="1250" dirty="0"/>
          </a:p>
        </p:txBody>
      </p:sp>
      <p:sp>
        <p:nvSpPr>
          <p:cNvPr id="10" name="Shape 6"/>
          <p:cNvSpPr/>
          <p:nvPr/>
        </p:nvSpPr>
        <p:spPr>
          <a:xfrm>
            <a:off x="548640" y="2395728"/>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786384" y="2601468"/>
            <a:ext cx="502920" cy="502920"/>
          </a:xfrm>
          <a:prstGeom prst="ellipse">
            <a:avLst/>
          </a:prstGeom>
          <a:solidFill>
            <a:srgbClr val="1C7293"/>
          </a:solidFill>
          <a:ln/>
        </p:spPr>
      </p:sp>
      <p:pic>
        <p:nvPicPr>
          <p:cNvPr id="12" name="Image 2" descr="preencoded.png"/>
          <p:cNvPicPr>
            <a:picLocks noChangeAspect="1"/>
          </p:cNvPicPr>
          <p:nvPr/>
        </p:nvPicPr>
        <p:blipFill>
          <a:blip r:embed="rId4"/>
          <a:stretch>
            <a:fillRect/>
          </a:stretch>
        </p:blipFill>
        <p:spPr>
          <a:xfrm>
            <a:off x="912114" y="2727198"/>
            <a:ext cx="251460" cy="251460"/>
          </a:xfrm>
          <a:prstGeom prst="rect">
            <a:avLst/>
          </a:prstGeom>
        </p:spPr>
      </p:pic>
      <p:sp>
        <p:nvSpPr>
          <p:cNvPr id="13" name="Text 8"/>
          <p:cNvSpPr/>
          <p:nvPr/>
        </p:nvSpPr>
        <p:spPr>
          <a:xfrm>
            <a:off x="1481328" y="2523744"/>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Low-level gap</a:t>
            </a:r>
            <a:endParaRPr lang="en-US" sz="1600" dirty="0"/>
          </a:p>
        </p:txBody>
      </p:sp>
      <p:sp>
        <p:nvSpPr>
          <p:cNvPr id="14" name="Text 9"/>
          <p:cNvSpPr/>
          <p:nvPr/>
        </p:nvSpPr>
        <p:spPr>
          <a:xfrm>
            <a:off x="1481328" y="2825496"/>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Below the bottom tilt, distant low-level weather is missed.</a:t>
            </a:r>
            <a:endParaRPr lang="en-US" sz="1250" dirty="0"/>
          </a:p>
        </p:txBody>
      </p:sp>
      <p:sp>
        <p:nvSpPr>
          <p:cNvPr id="15" name="Shape 10"/>
          <p:cNvSpPr/>
          <p:nvPr/>
        </p:nvSpPr>
        <p:spPr>
          <a:xfrm>
            <a:off x="548640" y="3419856"/>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16" name="Shape 11"/>
          <p:cNvSpPr/>
          <p:nvPr/>
        </p:nvSpPr>
        <p:spPr>
          <a:xfrm>
            <a:off x="786384" y="3625596"/>
            <a:ext cx="502920" cy="502920"/>
          </a:xfrm>
          <a:prstGeom prst="ellipse">
            <a:avLst/>
          </a:prstGeom>
          <a:solidFill>
            <a:srgbClr val="1C7293"/>
          </a:solidFill>
          <a:ln/>
        </p:spPr>
      </p:sp>
      <p:pic>
        <p:nvPicPr>
          <p:cNvPr id="17" name="Image 3" descr="preencoded.png"/>
          <p:cNvPicPr>
            <a:picLocks noChangeAspect="1"/>
          </p:cNvPicPr>
          <p:nvPr/>
        </p:nvPicPr>
        <p:blipFill>
          <a:blip r:embed="rId5"/>
          <a:stretch>
            <a:fillRect/>
          </a:stretch>
        </p:blipFill>
        <p:spPr>
          <a:xfrm>
            <a:off x="912114" y="3751326"/>
            <a:ext cx="251460" cy="251460"/>
          </a:xfrm>
          <a:prstGeom prst="rect">
            <a:avLst/>
          </a:prstGeom>
        </p:spPr>
      </p:pic>
      <p:sp>
        <p:nvSpPr>
          <p:cNvPr id="18" name="Text 12"/>
          <p:cNvSpPr/>
          <p:nvPr/>
        </p:nvSpPr>
        <p:spPr>
          <a:xfrm>
            <a:off x="1481328" y="3547872"/>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Update time</a:t>
            </a:r>
            <a:endParaRPr lang="en-US" sz="1600" dirty="0"/>
          </a:p>
        </p:txBody>
      </p:sp>
      <p:sp>
        <p:nvSpPr>
          <p:cNvPr id="19" name="Text 13"/>
          <p:cNvSpPr/>
          <p:nvPr/>
        </p:nvSpPr>
        <p:spPr>
          <a:xfrm>
            <a:off x="1481328" y="3849624"/>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Every added tilt slows the volume — the exact problem phased arrays solve.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1C7293"/>
          </a:solidFill>
          <a:ln/>
        </p:spPr>
      </p:sp>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298448" y="3840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What you'll do</a:t>
            </a:r>
            <a:endParaRPr lang="en-US" sz="2700" dirty="0"/>
          </a:p>
        </p:txBody>
      </p:sp>
      <p:sp>
        <p:nvSpPr>
          <p:cNvPr id="5" name="Shape 2"/>
          <p:cNvSpPr/>
          <p:nvPr/>
        </p:nvSpPr>
        <p:spPr>
          <a:xfrm>
            <a:off x="548640" y="1325880"/>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6" name="Shape 3"/>
          <p:cNvSpPr/>
          <p:nvPr/>
        </p:nvSpPr>
        <p:spPr>
          <a:xfrm>
            <a:off x="786384" y="1531620"/>
            <a:ext cx="502920" cy="502920"/>
          </a:xfrm>
          <a:prstGeom prst="ellipse">
            <a:avLst/>
          </a:prstGeom>
          <a:solidFill>
            <a:srgbClr val="1C7293"/>
          </a:solidFill>
          <a:ln/>
        </p:spPr>
      </p:sp>
      <p:pic>
        <p:nvPicPr>
          <p:cNvPr id="7" name="Image 1" descr="preencoded.png"/>
          <p:cNvPicPr>
            <a:picLocks noChangeAspect="1"/>
          </p:cNvPicPr>
          <p:nvPr/>
        </p:nvPicPr>
        <p:blipFill>
          <a:blip r:embed="rId3"/>
          <a:stretch>
            <a:fillRect/>
          </a:stretch>
        </p:blipFill>
        <p:spPr>
          <a:xfrm>
            <a:off x="912114" y="1657350"/>
            <a:ext cx="251460" cy="251460"/>
          </a:xfrm>
          <a:prstGeom prst="rect">
            <a:avLst/>
          </a:prstGeom>
        </p:spPr>
      </p:pic>
      <p:sp>
        <p:nvSpPr>
          <p:cNvPr id="8" name="Text 4"/>
          <p:cNvSpPr/>
          <p:nvPr/>
        </p:nvSpPr>
        <p:spPr>
          <a:xfrm>
            <a:off x="1481328" y="1453896"/>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Three widgets</a:t>
            </a:r>
            <a:endParaRPr lang="en-US" sz="1600" dirty="0"/>
          </a:p>
        </p:txBody>
      </p:sp>
      <p:sp>
        <p:nvSpPr>
          <p:cNvPr id="9" name="Text 5"/>
          <p:cNvSpPr/>
          <p:nvPr/>
        </p:nvSpPr>
        <p:spPr>
          <a:xfrm>
            <a:off x="1481328" y="1755648"/>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Attenuation · sensitivity-vs-attenuation · scan strategies.</a:t>
            </a:r>
            <a:endParaRPr lang="en-US" sz="1250" dirty="0"/>
          </a:p>
        </p:txBody>
      </p:sp>
      <p:sp>
        <p:nvSpPr>
          <p:cNvPr id="10" name="Shape 6"/>
          <p:cNvSpPr/>
          <p:nvPr/>
        </p:nvSpPr>
        <p:spPr>
          <a:xfrm>
            <a:off x="548640" y="2331720"/>
            <a:ext cx="8046720" cy="914400"/>
          </a:xfrm>
          <a:prstGeom prst="roundRect">
            <a:avLst>
              <a:gd name="adj" fmla="val 8000"/>
            </a:avLst>
          </a:prstGeom>
          <a:solidFill>
            <a:srgbClr val="F1F6F8"/>
          </a:solidFill>
          <a:ln/>
          <a:effectLst>
            <a:outerShdw blurRad="88900" dist="38100" dir="5400000" algn="bl" rotWithShape="0">
              <a:srgbClr val="1A2433">
                <a:alpha val="16000"/>
              </a:srgbClr>
            </a:outerShdw>
          </a:effectLst>
        </p:spPr>
      </p:sp>
      <p:sp>
        <p:nvSpPr>
          <p:cNvPr id="11" name="Shape 7"/>
          <p:cNvSpPr/>
          <p:nvPr/>
        </p:nvSpPr>
        <p:spPr>
          <a:xfrm>
            <a:off x="786384" y="2537460"/>
            <a:ext cx="502920" cy="502920"/>
          </a:xfrm>
          <a:prstGeom prst="ellipse">
            <a:avLst/>
          </a:prstGeom>
          <a:solidFill>
            <a:srgbClr val="1C7293"/>
          </a:solidFill>
          <a:ln/>
        </p:spPr>
      </p:sp>
      <p:pic>
        <p:nvPicPr>
          <p:cNvPr id="12" name="Image 2" descr="preencoded.png"/>
          <p:cNvPicPr>
            <a:picLocks noChangeAspect="1"/>
          </p:cNvPicPr>
          <p:nvPr/>
        </p:nvPicPr>
        <p:blipFill>
          <a:blip r:embed="rId4"/>
          <a:stretch>
            <a:fillRect/>
          </a:stretch>
        </p:blipFill>
        <p:spPr>
          <a:xfrm>
            <a:off x="912114" y="2663190"/>
            <a:ext cx="251460" cy="251460"/>
          </a:xfrm>
          <a:prstGeom prst="rect">
            <a:avLst/>
          </a:prstGeom>
        </p:spPr>
      </p:pic>
      <p:sp>
        <p:nvSpPr>
          <p:cNvPr id="13" name="Text 8"/>
          <p:cNvSpPr/>
          <p:nvPr/>
        </p:nvSpPr>
        <p:spPr>
          <a:xfrm>
            <a:off x="1481328" y="2459736"/>
            <a:ext cx="6876288" cy="310896"/>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Real data</a:t>
            </a:r>
            <a:endParaRPr lang="en-US" sz="1600" dirty="0"/>
          </a:p>
        </p:txBody>
      </p:sp>
      <p:sp>
        <p:nvSpPr>
          <p:cNvPr id="14" name="Text 9"/>
          <p:cNvSpPr/>
          <p:nvPr/>
        </p:nvSpPr>
        <p:spPr>
          <a:xfrm>
            <a:off x="1481328" y="2761488"/>
            <a:ext cx="6876288" cy="3657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Two S/C pairs — where C-band loses to attenuation, and where it wins on sensitivity.</a:t>
            </a:r>
            <a:endParaRPr lang="en-US" sz="1250" dirty="0"/>
          </a:p>
        </p:txBody>
      </p:sp>
      <p:sp>
        <p:nvSpPr>
          <p:cNvPr id="15" name="Shape 10"/>
          <p:cNvSpPr/>
          <p:nvPr/>
        </p:nvSpPr>
        <p:spPr>
          <a:xfrm>
            <a:off x="548640" y="3419856"/>
            <a:ext cx="8046720" cy="868680"/>
          </a:xfrm>
          <a:prstGeom prst="roundRect">
            <a:avLst>
              <a:gd name="adj" fmla="val 9474"/>
            </a:avLst>
          </a:prstGeom>
          <a:solidFill>
            <a:srgbClr val="0E2A47"/>
          </a:solidFill>
          <a:ln/>
          <a:effectLst>
            <a:outerShdw blurRad="88900" dist="38100" dir="5400000" algn="bl" rotWithShape="0">
              <a:srgbClr val="1A2433">
                <a:alpha val="16000"/>
              </a:srgbClr>
            </a:outerShdw>
          </a:effectLst>
        </p:spPr>
      </p:sp>
      <p:sp>
        <p:nvSpPr>
          <p:cNvPr id="16" name="Shape 11"/>
          <p:cNvSpPr/>
          <p:nvPr/>
        </p:nvSpPr>
        <p:spPr>
          <a:xfrm>
            <a:off x="822960" y="3579876"/>
            <a:ext cx="548640" cy="548640"/>
          </a:xfrm>
          <a:prstGeom prst="ellipse">
            <a:avLst/>
          </a:prstGeom>
          <a:solidFill>
            <a:srgbClr val="E0A33E"/>
          </a:solidFill>
          <a:ln/>
        </p:spPr>
      </p:sp>
      <p:pic>
        <p:nvPicPr>
          <p:cNvPr id="17" name="Image 3" descr="preencoded.png"/>
          <p:cNvPicPr>
            <a:picLocks noChangeAspect="1"/>
          </p:cNvPicPr>
          <p:nvPr/>
        </p:nvPicPr>
        <p:blipFill>
          <a:blip r:embed="rId5"/>
          <a:stretch>
            <a:fillRect/>
          </a:stretch>
        </p:blipFill>
        <p:spPr>
          <a:xfrm>
            <a:off x="960120" y="3717036"/>
            <a:ext cx="274320" cy="274320"/>
          </a:xfrm>
          <a:prstGeom prst="rect">
            <a:avLst/>
          </a:prstGeom>
        </p:spPr>
      </p:pic>
      <p:sp>
        <p:nvSpPr>
          <p:cNvPr id="18" name="Text 12"/>
          <p:cNvSpPr/>
          <p:nvPr/>
        </p:nvSpPr>
        <p:spPr>
          <a:xfrm>
            <a:off x="1572768" y="3566160"/>
            <a:ext cx="6748272" cy="576072"/>
          </a:xfrm>
          <a:prstGeom prst="rect">
            <a:avLst/>
          </a:prstGeom>
          <a:noFill/>
          <a:ln/>
        </p:spPr>
        <p:txBody>
          <a:bodyPr wrap="square" lIns="0" tIns="0" rIns="0" bIns="0" rtlCol="0" anchor="ctr"/>
          <a:lstStyle/>
          <a:p>
            <a:pPr marL="0" indent="0">
              <a:buNone/>
            </a:pPr>
            <a:r>
              <a:rPr lang="en-US" sz="1050" b="1" kern="0" spc="200" dirty="0">
                <a:solidFill>
                  <a:srgbClr val="E0A33E"/>
                </a:solidFill>
                <a:latin typeface="Calibri" pitchFamily="34" charset="0"/>
                <a:ea typeface="Calibri" pitchFamily="34" charset="-122"/>
                <a:cs typeface="Calibri" pitchFamily="34" charset="-120"/>
              </a:rPr>
              <a:t>TAKEAWAY</a:t>
            </a:r>
            <a:endParaRPr lang="en-US" sz="1050" dirty="0"/>
          </a:p>
          <a:p>
            <a:pPr marL="0" indent="0">
              <a:buNone/>
            </a:pPr>
            <a:r>
              <a:rPr lang="en-US" sz="1350" dirty="0">
                <a:solidFill>
                  <a:srgbClr val="FFFFFF"/>
                </a:solidFill>
                <a:latin typeface="Calibri" pitchFamily="34" charset="0"/>
                <a:ea typeface="Calibri" pitchFamily="34" charset="-122"/>
                <a:cs typeface="Calibri" pitchFamily="34" charset="-120"/>
              </a:rPr>
              <a:t>Shorter λ buys sensitivity but pays in attenuation; building a volume trades detail, clean velocity, and update speed.</a:t>
            </a:r>
            <a:endParaRPr lang="en-US" sz="1050" dirty="0"/>
          </a:p>
        </p:txBody>
      </p:sp>
      <p:sp>
        <p:nvSpPr>
          <p:cNvPr id="19" name="Text 13"/>
          <p:cNvSpPr/>
          <p:nvPr/>
        </p:nvSpPr>
        <p:spPr>
          <a:xfrm>
            <a:off x="548640" y="4434840"/>
            <a:ext cx="8046720" cy="365760"/>
          </a:xfrm>
          <a:prstGeom prst="rect">
            <a:avLst/>
          </a:prstGeom>
          <a:noFill/>
          <a:ln/>
        </p:spPr>
        <p:txBody>
          <a:bodyPr wrap="square" lIns="0" tIns="0" rIns="0" bIns="0" rtlCol="0" anchor="ctr"/>
          <a:lstStyle/>
          <a:p>
            <a:pPr marL="0" indent="0" algn="ctr">
              <a:buNone/>
            </a:pPr>
            <a:r>
              <a:rPr lang="en-US" sz="1150" i="1" dirty="0">
                <a:solidFill>
                  <a:srgbClr val="5C6B7A"/>
                </a:solidFill>
                <a:latin typeface="Calibri" pitchFamily="34" charset="0"/>
                <a:ea typeface="Calibri" pitchFamily="34" charset="-122"/>
                <a:cs typeface="Calibri" pitchFamily="34" charset="-120"/>
              </a:rPr>
              <a:t>Note: operational C-band radars recover much of the attenuated signal with dual-pol (KDP) — the practical fix, beyond this course.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690372" y="525780"/>
            <a:ext cx="283464" cy="283464"/>
          </a:xfrm>
          <a:prstGeom prst="rect">
            <a:avLst/>
          </a:prstGeom>
        </p:spPr>
      </p:pic>
      <p:sp>
        <p:nvSpPr>
          <p:cNvPr id="4" name="Text 1"/>
          <p:cNvSpPr/>
          <p:nvPr/>
        </p:nvSpPr>
        <p:spPr>
          <a:xfrm>
            <a:off x="1389888" y="536448"/>
            <a:ext cx="7315200" cy="566928"/>
          </a:xfrm>
          <a:prstGeom prst="rect">
            <a:avLst/>
          </a:prstGeom>
          <a:noFill/>
          <a:ln/>
        </p:spPr>
        <p:txBody>
          <a:bodyPr wrap="square" lIns="0" tIns="0" rIns="0" bIns="0" rtlCol="0" anchor="ctr"/>
          <a:lstStyle/>
          <a:p>
            <a:pPr marL="0" indent="0">
              <a:buNone/>
            </a:pPr>
            <a:r>
              <a:rPr lang="en-US" sz="2700" b="1" dirty="0">
                <a:solidFill>
                  <a:srgbClr val="0E2A47"/>
                </a:solidFill>
                <a:latin typeface="Cambria" pitchFamily="34" charset="0"/>
                <a:ea typeface="Cambria" pitchFamily="34" charset="-122"/>
                <a:cs typeface="Cambria" pitchFamily="34" charset="-120"/>
              </a:rPr>
              <a:t>Discussion</a:t>
            </a:r>
            <a:endParaRPr lang="en-US" sz="2700" dirty="0"/>
          </a:p>
        </p:txBody>
      </p:sp>
      <p:sp>
        <p:nvSpPr>
          <p:cNvPr id="15" name="Shape 10"/>
          <p:cNvSpPr/>
          <p:nvPr/>
        </p:nvSpPr>
        <p:spPr>
          <a:xfrm>
            <a:off x="566928" y="1501439"/>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txBody>
          <a:bodyPr/>
          <a:lstStyle/>
          <a:p>
            <a:endParaRPr lang="en-US" dirty="0"/>
          </a:p>
        </p:txBody>
      </p:sp>
      <p:sp>
        <p:nvSpPr>
          <p:cNvPr id="16" name="Shape 11"/>
          <p:cNvSpPr/>
          <p:nvPr/>
        </p:nvSpPr>
        <p:spPr>
          <a:xfrm>
            <a:off x="841248" y="1684319"/>
            <a:ext cx="548640" cy="548640"/>
          </a:xfrm>
          <a:prstGeom prst="ellipse">
            <a:avLst/>
          </a:prstGeom>
          <a:solidFill>
            <a:srgbClr val="E0A33E"/>
          </a:solidFill>
          <a:ln/>
        </p:spPr>
      </p:sp>
      <p:pic>
        <p:nvPicPr>
          <p:cNvPr id="17" name="Image 3" descr="preencoded.png"/>
          <p:cNvPicPr>
            <a:picLocks noChangeAspect="1"/>
          </p:cNvPicPr>
          <p:nvPr/>
        </p:nvPicPr>
        <p:blipFill>
          <a:blip r:embed="rId4"/>
          <a:stretch>
            <a:fillRect/>
          </a:stretch>
        </p:blipFill>
        <p:spPr>
          <a:xfrm>
            <a:off x="982092" y="1821479"/>
            <a:ext cx="274320" cy="274320"/>
          </a:xfrm>
          <a:prstGeom prst="rect">
            <a:avLst/>
          </a:prstGeom>
        </p:spPr>
      </p:pic>
      <p:sp>
        <p:nvSpPr>
          <p:cNvPr id="18" name="Text 12"/>
          <p:cNvSpPr/>
          <p:nvPr/>
        </p:nvSpPr>
        <p:spPr>
          <a:xfrm>
            <a:off x="1591056" y="1647743"/>
            <a:ext cx="6748272" cy="62179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Across the four blocks, the same theme kept returning: every radar choice is a trade-off, not a free improvement. Which trade-off surprised you most? Could you "fix" it by building a better radar?</a:t>
            </a:r>
            <a:endParaRPr lang="en-US" sz="1050" dirty="0"/>
          </a:p>
        </p:txBody>
      </p:sp>
      <p:sp>
        <p:nvSpPr>
          <p:cNvPr id="20" name="Shape 10">
            <a:extLst>
              <a:ext uri="{FF2B5EF4-FFF2-40B4-BE49-F238E27FC236}">
                <a16:creationId xmlns:a16="http://schemas.microsoft.com/office/drawing/2014/main" id="{553835F5-CBAE-4139-ABE4-1BC5618DEE3F}"/>
              </a:ext>
            </a:extLst>
          </p:cNvPr>
          <p:cNvSpPr/>
          <p:nvPr/>
        </p:nvSpPr>
        <p:spPr>
          <a:xfrm>
            <a:off x="566928" y="2598719"/>
            <a:ext cx="8046720" cy="914400"/>
          </a:xfrm>
          <a:prstGeom prst="roundRect">
            <a:avLst>
              <a:gd name="adj" fmla="val 9000"/>
            </a:avLst>
          </a:prstGeom>
          <a:solidFill>
            <a:srgbClr val="0E2A47"/>
          </a:solidFill>
          <a:ln/>
          <a:effectLst>
            <a:outerShdw blurRad="88900" dist="38100" dir="5400000" algn="bl" rotWithShape="0">
              <a:srgbClr val="1A2433">
                <a:alpha val="16000"/>
              </a:srgbClr>
            </a:outerShdw>
          </a:effectLst>
        </p:spPr>
      </p:sp>
      <p:sp>
        <p:nvSpPr>
          <p:cNvPr id="21" name="Shape 11">
            <a:extLst>
              <a:ext uri="{FF2B5EF4-FFF2-40B4-BE49-F238E27FC236}">
                <a16:creationId xmlns:a16="http://schemas.microsoft.com/office/drawing/2014/main" id="{1D387E5A-61F7-455A-9909-5E3BDA8A1FE8}"/>
              </a:ext>
            </a:extLst>
          </p:cNvPr>
          <p:cNvSpPr/>
          <p:nvPr/>
        </p:nvSpPr>
        <p:spPr>
          <a:xfrm>
            <a:off x="841248" y="2781599"/>
            <a:ext cx="548640" cy="548640"/>
          </a:xfrm>
          <a:prstGeom prst="ellipse">
            <a:avLst/>
          </a:prstGeom>
          <a:solidFill>
            <a:srgbClr val="E0A33E"/>
          </a:solidFill>
          <a:ln/>
        </p:spPr>
      </p:sp>
      <p:pic>
        <p:nvPicPr>
          <p:cNvPr id="22" name="Image 3" descr="preencoded.png">
            <a:extLst>
              <a:ext uri="{FF2B5EF4-FFF2-40B4-BE49-F238E27FC236}">
                <a16:creationId xmlns:a16="http://schemas.microsoft.com/office/drawing/2014/main" id="{01390C2A-10F8-442C-9DD5-7526707658FD}"/>
              </a:ext>
            </a:extLst>
          </p:cNvPr>
          <p:cNvPicPr>
            <a:picLocks noChangeAspect="1"/>
          </p:cNvPicPr>
          <p:nvPr/>
        </p:nvPicPr>
        <p:blipFill>
          <a:blip r:embed="rId4"/>
          <a:stretch>
            <a:fillRect/>
          </a:stretch>
        </p:blipFill>
        <p:spPr>
          <a:xfrm>
            <a:off x="982092" y="2918759"/>
            <a:ext cx="274320" cy="274320"/>
          </a:xfrm>
          <a:prstGeom prst="rect">
            <a:avLst/>
          </a:prstGeom>
        </p:spPr>
      </p:pic>
      <p:sp>
        <p:nvSpPr>
          <p:cNvPr id="23" name="Text 12">
            <a:extLst>
              <a:ext uri="{FF2B5EF4-FFF2-40B4-BE49-F238E27FC236}">
                <a16:creationId xmlns:a16="http://schemas.microsoft.com/office/drawing/2014/main" id="{1C1E7AF8-3806-4285-97E7-4475CBB908FD}"/>
              </a:ext>
            </a:extLst>
          </p:cNvPr>
          <p:cNvSpPr/>
          <p:nvPr/>
        </p:nvSpPr>
        <p:spPr>
          <a:xfrm>
            <a:off x="1591056" y="2745023"/>
            <a:ext cx="6748272" cy="62179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If someone handed you a single radar image with no other information, what would you now want to know about the radar itself before trusting what the image shows?</a:t>
            </a:r>
            <a:endParaRPr lang="en-US" sz="1050" dirty="0"/>
          </a:p>
        </p:txBody>
      </p:sp>
      <p:sp>
        <p:nvSpPr>
          <p:cNvPr id="24" name="Shape 0">
            <a:extLst>
              <a:ext uri="{FF2B5EF4-FFF2-40B4-BE49-F238E27FC236}">
                <a16:creationId xmlns:a16="http://schemas.microsoft.com/office/drawing/2014/main" id="{46DD00A4-40F3-4367-8458-B08BAB039F83}"/>
              </a:ext>
            </a:extLst>
          </p:cNvPr>
          <p:cNvSpPr/>
          <p:nvPr/>
        </p:nvSpPr>
        <p:spPr>
          <a:xfrm>
            <a:off x="701040" y="536448"/>
            <a:ext cx="566928" cy="566928"/>
          </a:xfrm>
          <a:prstGeom prst="ellipse">
            <a:avLst/>
          </a:prstGeom>
          <a:solidFill>
            <a:srgbClr val="1C7293"/>
          </a:solidFill>
          <a:ln/>
        </p:spPr>
      </p:sp>
      <p:pic>
        <p:nvPicPr>
          <p:cNvPr id="25" name="Image 0" descr="preencoded.png">
            <a:extLst>
              <a:ext uri="{FF2B5EF4-FFF2-40B4-BE49-F238E27FC236}">
                <a16:creationId xmlns:a16="http://schemas.microsoft.com/office/drawing/2014/main" id="{299851C2-A12B-4B36-A5EF-F1FEEE11F9C7}"/>
              </a:ext>
            </a:extLst>
          </p:cNvPr>
          <p:cNvPicPr>
            <a:picLocks noChangeAspect="1"/>
          </p:cNvPicPr>
          <p:nvPr/>
        </p:nvPicPr>
        <p:blipFill>
          <a:blip r:embed="rId3"/>
          <a:stretch>
            <a:fillRect/>
          </a:stretch>
        </p:blipFill>
        <p:spPr>
          <a:xfrm>
            <a:off x="842772" y="678180"/>
            <a:ext cx="283464" cy="283464"/>
          </a:xfrm>
          <a:prstGeom prst="rect">
            <a:avLst/>
          </a:prstGeom>
        </p:spPr>
      </p:pic>
    </p:spTree>
    <p:extLst>
      <p:ext uri="{BB962C8B-B14F-4D97-AF65-F5344CB8AC3E}">
        <p14:creationId xmlns:p14="http://schemas.microsoft.com/office/powerpoint/2010/main" val="1594288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2371</Words>
  <Application>Microsoft Office PowerPoint</Application>
  <PresentationFormat>On-screen Show (16:9)</PresentationFormat>
  <Paragraphs>220</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the Radar — pre-block briefings</dc:title>
  <dc:subject>PptxGenJS Presentation</dc:subject>
  <dc:creator>Sebastián Torres</dc:creator>
  <cp:lastModifiedBy>Torres, Sebastian M.</cp:lastModifiedBy>
  <cp:revision>2</cp:revision>
  <dcterms:created xsi:type="dcterms:W3CDTF">2026-06-25T15:03:34Z</dcterms:created>
  <dcterms:modified xsi:type="dcterms:W3CDTF">2026-06-25T15:19:01Z</dcterms:modified>
</cp:coreProperties>
</file>