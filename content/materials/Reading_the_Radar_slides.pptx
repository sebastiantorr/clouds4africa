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90" r:id="rId3"/>
    <p:sldId id="258" r:id="rId4"/>
    <p:sldId id="259" r:id="rId5"/>
    <p:sldId id="260" r:id="rId6"/>
    <p:sldId id="261" r:id="rId7"/>
    <p:sldId id="262" r:id="rId8"/>
    <p:sldId id="279" r:id="rId9"/>
    <p:sldId id="263" r:id="rId10"/>
    <p:sldId id="264" r:id="rId11"/>
    <p:sldId id="265" r:id="rId12"/>
    <p:sldId id="266" r:id="rId13"/>
    <p:sldId id="267" r:id="rId14"/>
    <p:sldId id="280" r:id="rId15"/>
    <p:sldId id="268" r:id="rId16"/>
    <p:sldId id="269" r:id="rId17"/>
    <p:sldId id="270" r:id="rId18"/>
    <p:sldId id="271" r:id="rId19"/>
    <p:sldId id="272" r:id="rId20"/>
    <p:sldId id="281" r:id="rId21"/>
    <p:sldId id="273" r:id="rId22"/>
    <p:sldId id="274" r:id="rId23"/>
    <p:sldId id="275" r:id="rId24"/>
    <p:sldId id="276" r:id="rId25"/>
    <p:sldId id="277" r:id="rId26"/>
    <p:sldId id="282" r:id="rId27"/>
    <p:sldId id="289" r:id="rId28"/>
    <p:sldId id="284" r:id="rId29"/>
    <p:sldId id="285" r:id="rId30"/>
    <p:sldId id="286" r:id="rId31"/>
    <p:sldId id="287" r:id="rId32"/>
    <p:sldId id="288" r:id="rId3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6B7A"/>
    <a:srgbClr val="1D7293"/>
    <a:srgbClr val="F2F7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85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72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7854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deck is the short briefing to run before each hands-on block. Each block is slider-driven notebooks — no coding — followed by a real radar case, all at three depth levels.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blocks follow the life of one measurement, end to end. Blocks 1–4 are the live workshop; Block 5 (dual-pol) is the take-home bonus, flagged in amber.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frame: every later block assumes you know the beam is a physical volume in space. Keep this one intuitive.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 orientation — most of the audience forecasts but may not have built the mental model of how a value gets made. Thirty seconds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2x2 is the spine of Block 1 — the four widgets map one-to-one onto these four behaviours.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operational stakes. The amber line is the sentence you want them repeating back all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off to the notebook. Remind them to run the install and setup cells once, then work the widgets in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off to the notebook. Remind them to run the install and setup cells once, then work the widgets in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4371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from Block 1: now that we know where the beam goes, ask how big the sample is and whether a faint echo even registers.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headline: a distant pixel averages a huge box of atmosphere. Volume grows as r-squared — both cross-beam dimensions widen.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slider, three consequences. This is where they internalise that radar design is all trade-offs.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it back: a weak distant echo that's missing may be below the noise floor, not absent. Another flavour of 'no echo is not no weather.'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two-radar case is the controlled experiment: same storm, two ranges, so resolution loss separates cleanly from beam height.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off to the notebook. Remind them to run the install and setup cells once, then work the widgets in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5665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block is the time-domain twin of Block 1. The key tension: one knob (the PRF) sets two limits that fight each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sure they see both r_max and v_max depend on the SAME PRF, in opposite directions. That sets up the dilemma.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most important equation of the block. Note the wavelength dependence — it returns in Block 4 and matters for C-band Africa.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Pre-empt the misconception: aliasing and folding are not errors. They are predictable consequences of sampling that a reader learns to undo.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hurricane case the velocity disk is visibly smaller than reflectivity — that edge is r_max made visible. Pre-SZ-2 data, so folded gates are dropped, not painted.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off to the notebook. Remind them to run the install and setup cells once, then work the widgets in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5923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Strongest local hook of the course: most African networks are C-band. This block is the payoff and the synthesis.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the band the audience actually operates (C). Frame attenuation as the price paid for the smaller-dish advantage.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new widget 2. Sensitivity favours short wavelengths; attenuation favours long ones; the crossover decides per situation.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Scan strategy ties the whole course together: vertical detail vs clean velocity (Block 3) vs update speed. No free lunch.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arc. Mention KDP as the operational answer to attenuation so C-band doesn't look doomed — it's the bridge to dual-pol, which this course doesn't cover.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off to the notebook. Remind them to run the install and setup cells once, then work the widgets in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3567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measurement dimension: polarization. Frame it as the modern capability the first four blocks didn't use, and the one most relevant to a rainfall-focused C-band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intuition: it's the difference between H and V that's new, not the polarizations themselves. Keep it conceptual.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spine of the block. ZDR is shape, rho-hv is purity, KDP is the phase-based rain rate that pays off Block 4's attenuation.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it matters, in three payoffs: classification, quality control, and quantitative rainfall. The last one ties straight back to Block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off to the notebook. Note this is the take-home bonus block — best worked at your own pace after the live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573E2-4777-D408-0E78-46BBA13D2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C429D3-05BF-679A-3E5F-602D981851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5B03DB-28A4-07A8-7987-AB8AE5460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off to the notebook. Remind them to run the install and setup cells once, then work the widgets in order.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EF7B6F-6B16-C8D8-2FC4-22AC27C71B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762170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7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0.xml.rels><?xml version="1.0" encoding="UTF-8"?>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1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?>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4.xml.rels><?xml version="1.0" encoding="UTF-8"?>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25.xml.rels><?xml version="1.0" encoding="UTF-8"?>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6.xml.rels><?xml version="1.0" encoding="UTF-8"?>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7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29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?>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1.png"/></Relationships>
</file>

<file path=ppt/slides/_rels/slide31.xml.rels><?xml version="1.0" encoding="UTF-8"?>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2.xml.rels><?xml version="1.0" encoding="UTF-8"?>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69080" y="566928"/>
            <a:ext cx="1005840" cy="1005840"/>
          </a:xfrm>
          <a:prstGeom prst="ellipse">
            <a:avLst/>
          </a:prstGeom>
          <a:solidFill>
            <a:srgbClr val="E0A33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540" y="81838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83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Radar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457200" y="2670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i="1" dirty="0">
                <a:solidFill>
                  <a:srgbClr val="A9CB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hands-on guide to what weather radar sees — and misses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Clouds4Africa   ·   July 2026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92196" y="318668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Sebastián Torres  —  CIWRO / University of Oklahoma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blocks: one measurement, end to end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548640" y="1298448"/>
            <a:ext cx="8046720" cy="530352"/>
          </a:xfrm>
          <a:prstGeom prst="roundRect">
            <a:avLst>
              <a:gd name="adj" fmla="val 13793"/>
            </a:avLst>
          </a:prstGeom>
          <a:solidFill>
            <a:srgbClr val="F1F6F8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31520" y="13716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" y="1467612"/>
            <a:ext cx="192024" cy="1920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35024" y="1298448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The beam in space    </a:t>
            </a: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echo comes from — spread, height, bending, blockage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548640" y="1901952"/>
            <a:ext cx="8046720" cy="530352"/>
          </a:xfrm>
          <a:prstGeom prst="roundRect">
            <a:avLst>
              <a:gd name="adj" fmla="val 13793"/>
            </a:avLst>
          </a:prstGeom>
          <a:solidFill>
            <a:srgbClr val="F1F6F8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731520" y="1975104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" y="2071116"/>
            <a:ext cx="192024" cy="19202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35024" y="1901952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One measurement    </a:t>
            </a: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big a value is, and whether it can be detected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548640" y="2505456"/>
            <a:ext cx="8046720" cy="530352"/>
          </a:xfrm>
          <a:prstGeom prst="roundRect">
            <a:avLst>
              <a:gd name="adj" fmla="val 13793"/>
            </a:avLst>
          </a:prstGeom>
          <a:solidFill>
            <a:srgbClr val="F1F6F8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9"/>
          <p:cNvSpPr/>
          <p:nvPr/>
        </p:nvSpPr>
        <p:spPr>
          <a:xfrm>
            <a:off x="731520" y="257860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" y="2674620"/>
            <a:ext cx="192024" cy="19202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35024" y="2505456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Range, velocity &amp; ambiguity    </a:t>
            </a: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and how fast — and where the sampling breaks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548640" y="3108960"/>
            <a:ext cx="8046720" cy="530352"/>
          </a:xfrm>
          <a:prstGeom prst="roundRect">
            <a:avLst>
              <a:gd name="adj" fmla="val 13793"/>
            </a:avLst>
          </a:prstGeom>
          <a:solidFill>
            <a:srgbClr val="F1F6F8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731520" y="318211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" y="3278124"/>
            <a:ext cx="192024" cy="19202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35024" y="3108960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Wavelength, weather &amp; the scan    </a:t>
            </a: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wavelength decides; building a volume scan</a:t>
            </a:r>
            <a:endParaRPr lang="en-US" sz="1450" dirty="0"/>
          </a:p>
        </p:txBody>
      </p:sp>
      <p:sp>
        <p:nvSpPr>
          <p:cNvPr id="21" name="Shape 14"/>
          <p:cNvSpPr/>
          <p:nvPr/>
        </p:nvSpPr>
        <p:spPr>
          <a:xfrm>
            <a:off x="548640" y="3712464"/>
            <a:ext cx="8046720" cy="530352"/>
          </a:xfrm>
          <a:prstGeom prst="roundRect">
            <a:avLst>
              <a:gd name="adj" fmla="val 13793"/>
            </a:avLst>
          </a:prstGeom>
          <a:solidFill>
            <a:srgbClr val="F2F7F9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5"/>
          <p:cNvSpPr/>
          <p:nvPr/>
        </p:nvSpPr>
        <p:spPr>
          <a:xfrm>
            <a:off x="731520" y="3785616"/>
            <a:ext cx="384048" cy="384048"/>
          </a:xfrm>
          <a:prstGeom prst="ellipse">
            <a:avLst/>
          </a:prstGeom>
          <a:solidFill>
            <a:srgbClr val="1D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32" y="3881628"/>
            <a:ext cx="192024" cy="19202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335024" y="3712464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Two polarizations    </a:t>
            </a: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echo is made of — rain, hail, melting layer</a:t>
            </a:r>
            <a:endParaRPr lang="en-US" sz="1450" dirty="0">
              <a:solidFill>
                <a:srgbClr val="5C6B7A"/>
              </a:solidFill>
            </a:endParaRPr>
          </a:p>
        </p:txBody>
      </p:sp>
      <p:sp>
        <p:nvSpPr>
          <p:cNvPr id="25" name="Text 17"/>
          <p:cNvSpPr/>
          <p:nvPr/>
        </p:nvSpPr>
        <p:spPr>
          <a:xfrm>
            <a:off x="548640" y="449884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block: 3–4 slider widgets + a real-data case · three depth levels (Basic · A little further · Going deeper).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0" y="-320040"/>
            <a:ext cx="3566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18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640080" y="731520"/>
            <a:ext cx="914400" cy="914400"/>
          </a:xfrm>
          <a:prstGeom prst="ellipse">
            <a:avLst/>
          </a:prstGeom>
          <a:solidFill>
            <a:srgbClr val="E0A33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9601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6656" y="18105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0A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01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21792" y="2121408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beam in space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58368" y="312724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9CB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the echo actually come from?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58368" y="3822192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radar doesn't measure a point — it measures a beam that spreads, climbs, bends, and can be blocked.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radar measures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8046720" cy="960120"/>
          </a:xfrm>
          <a:prstGeom prst="roundRect">
            <a:avLst>
              <a:gd name="adj" fmla="val 7619"/>
            </a:avLst>
          </a:prstGeom>
          <a:solidFill>
            <a:srgbClr val="F1F6F8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86384" y="1645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114" y="1771650"/>
            <a:ext cx="251460" cy="2514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81328" y="1545336"/>
            <a:ext cx="6876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and echo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481328" y="1847088"/>
            <a:ext cx="6876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 a short pulse, then listen. Distance comes from the time delay — a later echo is farther away.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2496312"/>
            <a:ext cx="8046720" cy="960120"/>
          </a:xfrm>
          <a:prstGeom prst="roundRect">
            <a:avLst>
              <a:gd name="adj" fmla="val 7619"/>
            </a:avLst>
          </a:prstGeom>
          <a:solidFill>
            <a:srgbClr val="F1F6F8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786384" y="272491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114" y="2850642"/>
            <a:ext cx="251460" cy="2514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81328" y="2624328"/>
            <a:ext cx="6876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481328" y="2926080"/>
            <a:ext cx="6876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Reflectivity (dBZ) — how much and how large the scatterers are — is the focus here. Velocity and dual-pol arrive in later blocks.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3575304"/>
            <a:ext cx="8046720" cy="960120"/>
          </a:xfrm>
          <a:prstGeom prst="roundRect">
            <a:avLst>
              <a:gd name="adj" fmla="val 7619"/>
            </a:avLst>
          </a:prstGeom>
          <a:solidFill>
            <a:srgbClr val="F1F6F8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786384" y="380390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114" y="3929634"/>
            <a:ext cx="251460" cy="2514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81328" y="3703320"/>
            <a:ext cx="6876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Tilt, azimuth, range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481328" y="4005072"/>
            <a:ext cx="6876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beam points at an elevation (tilt) and azimuth and sweeps a circle to build a PPI; range is distance outward along it.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idea: the beam is a volume, not a ray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F1F6F8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86384" y="160934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114" y="1735074"/>
            <a:ext cx="251460" cy="2514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44752" y="160934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804672" y="2212848"/>
            <a:ext cx="3328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≈ 1.27 λ/D — fixed in degrees, so the physical width grows with range.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572000" y="137160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F1F6F8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4809744" y="160934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5474" y="1735074"/>
            <a:ext cx="251460" cy="2514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68112" y="160934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Climbs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4828032" y="2212848"/>
            <a:ext cx="3328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Earth curves away faster than the beam bends, so it rises with range.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2889504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F1F6F8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786384" y="312724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114" y="3252978"/>
            <a:ext cx="251460" cy="2514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44752" y="31272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Bends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804672" y="3730752"/>
            <a:ext cx="3328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Refractivity gradients bend the beam; strong ducting traps it and paints false echoes.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4572000" y="2889504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F1F6F8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4809744" y="312724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5474" y="3252978"/>
            <a:ext cx="251460" cy="2514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468112" y="31272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blocked</a:t>
            </a:r>
            <a:endParaRPr lang="en-US" sz="1650" dirty="0"/>
          </a:p>
        </p:txBody>
      </p:sp>
      <p:sp>
        <p:nvSpPr>
          <p:cNvPr id="24" name="Text 17"/>
          <p:cNvSpPr/>
          <p:nvPr/>
        </p:nvSpPr>
        <p:spPr>
          <a:xfrm>
            <a:off x="4828032" y="3730752"/>
            <a:ext cx="3328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 near the radar clips the beam and shadows everything downrange of it.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1F6F8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86384" y="15773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114" y="1703070"/>
            <a:ext cx="251460" cy="2514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81328" y="1499616"/>
            <a:ext cx="6876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Overshooting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481328" y="1801368"/>
            <a:ext cx="6876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~150 km the lowest beam is kilometres up — shallow rain and snow slip underneath unseen.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2395728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1F6F8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786384" y="260146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114" y="2727198"/>
            <a:ext cx="251460" cy="2514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81328" y="2523744"/>
            <a:ext cx="6876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echoes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481328" y="2825496"/>
            <a:ext cx="6876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Night-time ducting bends the beam into the ground: clutter appears where there is no weather.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3419856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1F6F8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786384" y="362559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114" y="3751326"/>
            <a:ext cx="251460" cy="2514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81328" y="3547872"/>
            <a:ext cx="6876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 wedges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481328" y="3849624"/>
            <a:ext cx="6876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azimuths read low or empty — not because the rain is absent.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4498848"/>
            <a:ext cx="8046720" cy="548640"/>
          </a:xfrm>
          <a:prstGeom prst="roundRect">
            <a:avLst>
              <a:gd name="adj" fmla="val 15000"/>
            </a:avLst>
          </a:prstGeom>
          <a:solidFill>
            <a:srgbClr val="FBEFD7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822960" y="449884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9A6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“No echo” is not the same as “no weather.”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do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1F6F8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86384" y="15773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114" y="1703070"/>
            <a:ext cx="251460" cy="2514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81328" y="1499616"/>
            <a:ext cx="6876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widgets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481328" y="1801368"/>
            <a:ext cx="6876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Beamwidth · beam height &amp; refraction · anomalous propagation · terrain blockage.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2395728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1F6F8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786384" y="260146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114" y="2727198"/>
            <a:ext cx="251460" cy="2514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81328" y="2523744"/>
            <a:ext cx="6876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481328" y="2825496"/>
            <a:ext cx="6876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reflectivity tilts of one storm — radial blockage spokes that fill in as the tilt rises; separate real weather from terrain.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3529584"/>
            <a:ext cx="8046720" cy="914400"/>
          </a:xfrm>
          <a:prstGeom prst="roundRect">
            <a:avLst>
              <a:gd name="adj" fmla="val 9000"/>
            </a:avLst>
          </a:prstGeom>
          <a:solidFill>
            <a:srgbClr val="0E2A47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822960" y="3712464"/>
            <a:ext cx="548640" cy="548640"/>
          </a:xfrm>
          <a:prstGeom prst="ellipse">
            <a:avLst/>
          </a:prstGeom>
          <a:solidFill>
            <a:srgbClr val="E0A33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384962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72768" y="3675888"/>
            <a:ext cx="6748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0A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050" dirty="0"/>
          </a:p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measurement is a beam of finite width that climbs, bends, and can be clipped — so “no echo” ≠ “no weather.”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389888" y="53644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2700" dirty="0"/>
          </a:p>
        </p:txBody>
      </p:sp>
      <p:sp>
        <p:nvSpPr>
          <p:cNvPr id="15" name="Shape 10"/>
          <p:cNvSpPr/>
          <p:nvPr/>
        </p:nvSpPr>
        <p:spPr>
          <a:xfrm>
            <a:off x="566928" y="1501439"/>
            <a:ext cx="8046720" cy="914400"/>
          </a:xfrm>
          <a:prstGeom prst="roundRect">
            <a:avLst>
              <a:gd name="adj" fmla="val 9000"/>
            </a:avLst>
          </a:prstGeom>
          <a:solidFill>
            <a:srgbClr val="0E2A47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841248" y="1684319"/>
            <a:ext cx="548640" cy="548640"/>
          </a:xfrm>
          <a:prstGeom prst="ellipse">
            <a:avLst/>
          </a:prstGeom>
          <a:solidFill>
            <a:srgbClr val="E0A33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092" y="1821479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91056" y="1647743"/>
            <a:ext cx="6748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colleague points to a blank patch on a radar image and says "no rain there." What would we want to check before agreeing?</a:t>
            </a:r>
            <a:endParaRPr lang="en-US" sz="1050" dirty="0"/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553835F5-CBAE-4139-ABE4-1BC5618DEE3F}"/>
              </a:ext>
            </a:extLst>
          </p:cNvPr>
          <p:cNvSpPr/>
          <p:nvPr/>
        </p:nvSpPr>
        <p:spPr>
          <a:xfrm>
            <a:off x="566928" y="2598719"/>
            <a:ext cx="8046720" cy="914400"/>
          </a:xfrm>
          <a:prstGeom prst="roundRect">
            <a:avLst>
              <a:gd name="adj" fmla="val 9000"/>
            </a:avLst>
          </a:prstGeom>
          <a:solidFill>
            <a:srgbClr val="0E2A47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1D387E5A-61F7-455A-9909-5E3BDA8A1FE8}"/>
              </a:ext>
            </a:extLst>
          </p:cNvPr>
          <p:cNvSpPr/>
          <p:nvPr/>
        </p:nvSpPr>
        <p:spPr>
          <a:xfrm>
            <a:off x="841248" y="2781599"/>
            <a:ext cx="548640" cy="548640"/>
          </a:xfrm>
          <a:prstGeom prst="ellipse">
            <a:avLst/>
          </a:prstGeom>
          <a:solidFill>
            <a:srgbClr val="E0A33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>
            <a:extLst>
              <a:ext uri="{FF2B5EF4-FFF2-40B4-BE49-F238E27FC236}">
                <a16:creationId xmlns:a16="http://schemas.microsoft.com/office/drawing/2014/main" id="{01390C2A-10F8-442C-9DD5-7526707658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092" y="2918759"/>
            <a:ext cx="274320" cy="274320"/>
          </a:xfrm>
          <a:prstGeom prst="rect">
            <a:avLst/>
          </a:prstGeom>
        </p:spPr>
      </p:pic>
      <p:sp>
        <p:nvSpPr>
          <p:cNvPr id="23" name="Text 12">
            <a:extLst>
              <a:ext uri="{FF2B5EF4-FFF2-40B4-BE49-F238E27FC236}">
                <a16:creationId xmlns:a16="http://schemas.microsoft.com/office/drawing/2014/main" id="{1C1E7AF8-3806-4285-97E7-4475CBB908FD}"/>
              </a:ext>
            </a:extLst>
          </p:cNvPr>
          <p:cNvSpPr/>
          <p:nvPr/>
        </p:nvSpPr>
        <p:spPr>
          <a:xfrm>
            <a:off x="1591056" y="2745023"/>
            <a:ext cx="6748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watched blocked spokes fill back in as the tilt rose. If we could keep just one elevation tilt of a storm, should we take the lowest or a higher one — what do we gain and lose, and when might our answer flip?</a:t>
            </a:r>
            <a:endParaRPr lang="en-US" sz="1050" dirty="0"/>
          </a:p>
        </p:txBody>
      </p:sp>
      <p:sp>
        <p:nvSpPr>
          <p:cNvPr id="24" name="Shape 0">
            <a:extLst>
              <a:ext uri="{FF2B5EF4-FFF2-40B4-BE49-F238E27FC236}">
                <a16:creationId xmlns:a16="http://schemas.microsoft.com/office/drawing/2014/main" id="{46DD00A4-40F3-4367-8458-B08BAB039F83}"/>
              </a:ext>
            </a:extLst>
          </p:cNvPr>
          <p:cNvSpPr/>
          <p:nvPr/>
        </p:nvSpPr>
        <p:spPr>
          <a:xfrm>
            <a:off x="701040" y="5364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299851C2-A12B-4B36-A5EF-F1FEEE11F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72" y="678180"/>
            <a:ext cx="283464" cy="283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558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0" y="-320040"/>
            <a:ext cx="3566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18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640080" y="731520"/>
            <a:ext cx="914400" cy="914400"/>
          </a:xfrm>
          <a:prstGeom prst="ellipse">
            <a:avLst/>
          </a:prstGeom>
          <a:solidFill>
            <a:srgbClr val="E0A33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9601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6656" y="18105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0A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02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21792" y="2121408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measurement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58368" y="312724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9CB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big is a single radar value — and can the radar even detect it?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58368" y="3822192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pixel on the screen is a chunk of air, not a point.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pixel is a volume average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4297680" cy="960120"/>
          </a:xfrm>
          <a:prstGeom prst="roundRect">
            <a:avLst>
              <a:gd name="adj" fmla="val 7619"/>
            </a:avLst>
          </a:prstGeom>
          <a:solidFill>
            <a:srgbClr val="F1F6F8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86384" y="1783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114" y="1908810"/>
            <a:ext cx="251460" cy="2514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81328" y="1682496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481328" y="1984248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by the pulse: cτ/2. Fixed with range.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2651760"/>
            <a:ext cx="4297680" cy="960120"/>
          </a:xfrm>
          <a:prstGeom prst="roundRect">
            <a:avLst>
              <a:gd name="adj" fmla="val 7619"/>
            </a:avLst>
          </a:prstGeom>
          <a:solidFill>
            <a:srgbClr val="F1F6F8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786384" y="2880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114" y="3006090"/>
            <a:ext cx="251460" cy="2514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81328" y="2779776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&amp; height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481328" y="3081528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by the beam: r·θ. Both grow with range.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120640" y="1554480"/>
            <a:ext cx="3474720" cy="2057400"/>
          </a:xfrm>
          <a:prstGeom prst="roundRect">
            <a:avLst>
              <a:gd name="adj" fmla="val 3556"/>
            </a:avLst>
          </a:prstGeom>
          <a:solidFill>
            <a:srgbClr val="F1F6F8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5394960" y="1737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value = one volume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5431536" y="2176272"/>
            <a:ext cx="2907792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 =  cτ / 2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= height  =  r·θ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 ∝  r²  (grows fast!)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pulse trade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840480" cy="2468880"/>
          </a:xfrm>
          <a:prstGeom prst="roundRect">
            <a:avLst>
              <a:gd name="adj" fmla="val 2963"/>
            </a:avLst>
          </a:prstGeom>
          <a:solidFill>
            <a:srgbClr val="F1F6F8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2960" y="1737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pulse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59536" y="2176272"/>
            <a:ext cx="3273552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range resolution (Δr = cτ/2 small)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sensitive — less energy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blind range near the radar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0" y="1554480"/>
            <a:ext cx="3840480" cy="2468880"/>
          </a:xfrm>
          <a:prstGeom prst="roundRect">
            <a:avLst>
              <a:gd name="adj" fmla="val 2963"/>
            </a:avLst>
          </a:prstGeom>
          <a:solidFill>
            <a:srgbClr val="F1F6F8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846320" y="1737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pulse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882896" y="2176272"/>
            <a:ext cx="3273552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sensitive — more energy per pulse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range resolution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sample, larger blind range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4224528"/>
            <a:ext cx="7863840" cy="548640"/>
          </a:xfrm>
          <a:prstGeom prst="roundRect">
            <a:avLst>
              <a:gd name="adj" fmla="val 15000"/>
            </a:avLst>
          </a:prstGeom>
          <a:solidFill>
            <a:srgbClr val="FBEFD7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22960" y="422452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9A6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Lengthen the pulse and every gain costs something.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is not guaranteed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4937760" cy="1005840"/>
          </a:xfrm>
          <a:prstGeom prst="roundRect">
            <a:avLst>
              <a:gd name="adj" fmla="val 7273"/>
            </a:avLst>
          </a:prstGeom>
          <a:solidFill>
            <a:srgbClr val="F1F6F8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86384" y="17602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114" y="1885950"/>
            <a:ext cx="251460" cy="2514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81328" y="1636776"/>
            <a:ext cx="3767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falls with range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481328" y="1938528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power ∝ 1/r², so the faintest detectable reflectivity climbs with distance.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2697480"/>
            <a:ext cx="4937760" cy="1005840"/>
          </a:xfrm>
          <a:prstGeom prst="roundRect">
            <a:avLst>
              <a:gd name="adj" fmla="val 7273"/>
            </a:avLst>
          </a:prstGeom>
          <a:solidFill>
            <a:srgbClr val="F1F6F8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786384" y="29489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114" y="3074670"/>
            <a:ext cx="251460" cy="2514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81328" y="2825496"/>
            <a:ext cx="3767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moves the curve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481328" y="3127248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 power, dish size, and wavelength all shift the whole sensitivity curve.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760720" y="1508760"/>
            <a:ext cx="2834640" cy="2194560"/>
          </a:xfrm>
          <a:prstGeom prst="roundRect">
            <a:avLst>
              <a:gd name="adj" fmla="val 3750"/>
            </a:avLst>
          </a:prstGeom>
          <a:solidFill>
            <a:srgbClr val="EAF2F5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5943600" y="1655064"/>
            <a:ext cx="246888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 dB</a:t>
            </a:r>
            <a:endParaRPr lang="en-US" sz="2700" dirty="0"/>
          </a:p>
        </p:txBody>
      </p:sp>
      <p:sp>
        <p:nvSpPr>
          <p:cNvPr id="17" name="Text 12"/>
          <p:cNvSpPr/>
          <p:nvPr/>
        </p:nvSpPr>
        <p:spPr>
          <a:xfrm>
            <a:off x="5943600" y="32278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range doubling — the beam-filled sensitivity law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do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1F6F8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86384" y="15773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114" y="1703070"/>
            <a:ext cx="251460" cy="2514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81328" y="1499616"/>
            <a:ext cx="6876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widgets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481328" y="1801368"/>
            <a:ext cx="6876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width · the resolution volume · the radar equation (sensitivity).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2395728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1F6F8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786384" y="260146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114" y="2727198"/>
            <a:ext cx="251460" cy="2514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81328" y="2523744"/>
            <a:ext cx="6876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481328" y="2825496"/>
            <a:ext cx="6876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 May 2013 Moore storm seen by two radars at once — 20 km vs 200 km.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3529584"/>
            <a:ext cx="8046720" cy="914400"/>
          </a:xfrm>
          <a:prstGeom prst="roundRect">
            <a:avLst>
              <a:gd name="adj" fmla="val 9000"/>
            </a:avLst>
          </a:prstGeom>
          <a:solidFill>
            <a:srgbClr val="0E2A47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822960" y="3712464"/>
            <a:ext cx="548640" cy="548640"/>
          </a:xfrm>
          <a:prstGeom prst="ellipse">
            <a:avLst/>
          </a:prstGeom>
          <a:solidFill>
            <a:srgbClr val="E0A33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384962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72768" y="3675888"/>
            <a:ext cx="6748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0A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050" dirty="0"/>
          </a:p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value is a volume-sized average — a distant pixel is a big spatial average, an underestimated peak, and a detection threshold at once.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389888" y="53644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2700" dirty="0"/>
          </a:p>
        </p:txBody>
      </p:sp>
      <p:sp>
        <p:nvSpPr>
          <p:cNvPr id="15" name="Shape 10"/>
          <p:cNvSpPr/>
          <p:nvPr/>
        </p:nvSpPr>
        <p:spPr>
          <a:xfrm>
            <a:off x="566928" y="1501439"/>
            <a:ext cx="8046720" cy="914400"/>
          </a:xfrm>
          <a:prstGeom prst="roundRect">
            <a:avLst>
              <a:gd name="adj" fmla="val 9000"/>
            </a:avLst>
          </a:prstGeom>
          <a:solidFill>
            <a:srgbClr val="0E2A47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841248" y="1684319"/>
            <a:ext cx="548640" cy="548640"/>
          </a:xfrm>
          <a:prstGeom prst="ellipse">
            <a:avLst/>
          </a:prstGeom>
          <a:solidFill>
            <a:srgbClr val="E0A33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092" y="1821479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91056" y="1647743"/>
            <a:ext cx="6748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saw the same storm from 20 km and 200 km look very different. If two radar images disagreed about how intense a storm is, what should we ask about how each measurement was made before deciding which to believe?</a:t>
            </a:r>
            <a:endParaRPr lang="en-US" sz="1050" dirty="0"/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553835F5-CBAE-4139-ABE4-1BC5618DEE3F}"/>
              </a:ext>
            </a:extLst>
          </p:cNvPr>
          <p:cNvSpPr/>
          <p:nvPr/>
        </p:nvSpPr>
        <p:spPr>
          <a:xfrm>
            <a:off x="566928" y="2598719"/>
            <a:ext cx="8046720" cy="914400"/>
          </a:xfrm>
          <a:prstGeom prst="roundRect">
            <a:avLst>
              <a:gd name="adj" fmla="val 9000"/>
            </a:avLst>
          </a:prstGeom>
          <a:solidFill>
            <a:srgbClr val="0E2A47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1D387E5A-61F7-455A-9909-5E3BDA8A1FE8}"/>
              </a:ext>
            </a:extLst>
          </p:cNvPr>
          <p:cNvSpPr/>
          <p:nvPr/>
        </p:nvSpPr>
        <p:spPr>
          <a:xfrm>
            <a:off x="841248" y="2781599"/>
            <a:ext cx="548640" cy="548640"/>
          </a:xfrm>
          <a:prstGeom prst="ellipse">
            <a:avLst/>
          </a:prstGeom>
          <a:solidFill>
            <a:srgbClr val="E0A33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>
            <a:extLst>
              <a:ext uri="{FF2B5EF4-FFF2-40B4-BE49-F238E27FC236}">
                <a16:creationId xmlns:a16="http://schemas.microsoft.com/office/drawing/2014/main" id="{01390C2A-10F8-442C-9DD5-7526707658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092" y="2918759"/>
            <a:ext cx="274320" cy="274320"/>
          </a:xfrm>
          <a:prstGeom prst="rect">
            <a:avLst/>
          </a:prstGeom>
        </p:spPr>
      </p:pic>
      <p:sp>
        <p:nvSpPr>
          <p:cNvPr id="23" name="Text 12">
            <a:extLst>
              <a:ext uri="{FF2B5EF4-FFF2-40B4-BE49-F238E27FC236}">
                <a16:creationId xmlns:a16="http://schemas.microsoft.com/office/drawing/2014/main" id="{1C1E7AF8-3806-4285-97E7-4475CBB908FD}"/>
              </a:ext>
            </a:extLst>
          </p:cNvPr>
          <p:cNvSpPr/>
          <p:nvPr/>
        </p:nvSpPr>
        <p:spPr>
          <a:xfrm>
            <a:off x="1591056" y="2745023"/>
            <a:ext cx="6748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radar shows an echo fading to nothing at its far edge. How many different things could that fading edge mean and how could you tell them apart?</a:t>
            </a:r>
            <a:endParaRPr lang="en-US" sz="1050" dirty="0"/>
          </a:p>
        </p:txBody>
      </p:sp>
      <p:sp>
        <p:nvSpPr>
          <p:cNvPr id="24" name="Shape 0">
            <a:extLst>
              <a:ext uri="{FF2B5EF4-FFF2-40B4-BE49-F238E27FC236}">
                <a16:creationId xmlns:a16="http://schemas.microsoft.com/office/drawing/2014/main" id="{46DD00A4-40F3-4367-8458-B08BAB039F83}"/>
              </a:ext>
            </a:extLst>
          </p:cNvPr>
          <p:cNvSpPr/>
          <p:nvPr/>
        </p:nvSpPr>
        <p:spPr>
          <a:xfrm>
            <a:off x="701040" y="5364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299851C2-A12B-4B36-A5EF-F1FEEE11F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72" y="678180"/>
            <a:ext cx="283464" cy="283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5812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0" y="-320040"/>
            <a:ext cx="3566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18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640080" y="731520"/>
            <a:ext cx="914400" cy="914400"/>
          </a:xfrm>
          <a:prstGeom prst="ellipse">
            <a:avLst/>
          </a:prstGeom>
          <a:solidFill>
            <a:srgbClr val="E0A33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9601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6656" y="18105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0A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03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21792" y="2121408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Range, velocity &amp; ambiguity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58368" y="312724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9CB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the radar know how far and how fast — and where does that break?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58368" y="3822192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and velocity come from the same pulse train — and the rate that helps one hurts the other.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pulse train, two jobs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8046720" cy="1005840"/>
          </a:xfrm>
          <a:prstGeom prst="roundRect">
            <a:avLst>
              <a:gd name="adj" fmla="val 7273"/>
            </a:avLst>
          </a:prstGeom>
          <a:solidFill>
            <a:srgbClr val="F1F6F8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86384" y="18516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114" y="1977390"/>
            <a:ext cx="251460" cy="2514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81328" y="1728216"/>
            <a:ext cx="6876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range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481328" y="2029968"/>
            <a:ext cx="6876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pulse must return before the next goes out:  r_max = c / (2·PRF).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2743200"/>
            <a:ext cx="8046720" cy="1005840"/>
          </a:xfrm>
          <a:prstGeom prst="roundRect">
            <a:avLst>
              <a:gd name="adj" fmla="val 7273"/>
            </a:avLst>
          </a:prstGeom>
          <a:solidFill>
            <a:srgbClr val="F1F6F8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786384" y="29946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114" y="3120390"/>
            <a:ext cx="251460" cy="2514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81328" y="2871216"/>
            <a:ext cx="6876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velocity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481328" y="3172968"/>
            <a:ext cx="6876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pulse rate sets the fastest unambiguous speed:  v_max = λ·PRF / 4.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4041648"/>
            <a:ext cx="8046720" cy="548640"/>
          </a:xfrm>
          <a:prstGeom prst="roundRect">
            <a:avLst>
              <a:gd name="adj" fmla="val 15000"/>
            </a:avLst>
          </a:prstGeom>
          <a:solidFill>
            <a:srgbClr val="FBEFD7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822960" y="404164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9A6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Raise the PRF for velocity and you lose range — and vice versa.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Doppler dilemma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822960" y="1554480"/>
            <a:ext cx="7498080" cy="1554480"/>
          </a:xfrm>
          <a:prstGeom prst="roundRect">
            <a:avLst>
              <a:gd name="adj" fmla="val 5294"/>
            </a:avLst>
          </a:prstGeom>
          <a:solidFill>
            <a:srgbClr val="EAF2F5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05840" y="1700784"/>
            <a:ext cx="71323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r_max · v_max = c·λ / 8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1005840" y="263347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by wavelength alone — a hard wall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05840" y="338328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only ever slide along one curve: long range or high Nyquist velocity, never both at once. A shorter wavelength (C-band) lowers the wall further.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 the ceiling, it folds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1F6F8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86384" y="170078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114" y="1826514"/>
            <a:ext cx="251460" cy="2514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44752" y="170078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folding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804672" y="2304288"/>
            <a:ext cx="332841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storm beyond r_max is misplaced to a shorter range — or, in modern data, simply flagged and dropped.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572000" y="1463040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1F6F8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4809744" y="170078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5474" y="1826514"/>
            <a:ext cx="251460" cy="2514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68112" y="170078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aliasing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4828032" y="2304288"/>
            <a:ext cx="332841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storm faster than v_max reads as the wrong speed — even the wrong direction.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3401568"/>
            <a:ext cx="7863840" cy="548640"/>
          </a:xfrm>
          <a:prstGeom prst="roundRect">
            <a:avLst>
              <a:gd name="adj" fmla="val 15000"/>
            </a:avLst>
          </a:prstGeom>
          <a:solidFill>
            <a:srgbClr val="FBEFD7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822960" y="340156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9A6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These are sampling artifacts to read, not radar faults.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do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1F6F8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86384" y="15773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114" y="1703070"/>
            <a:ext cx="251460" cy="2514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81328" y="1499616"/>
            <a:ext cx="6876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widgets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481328" y="1801368"/>
            <a:ext cx="6876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folding · the Doppler dilemma · velocity aliasing.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2395728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1F6F8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786384" y="260146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114" y="2727198"/>
            <a:ext cx="251460" cy="2514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81328" y="2523744"/>
            <a:ext cx="6876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481328" y="2825496"/>
            <a:ext cx="6876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Hurricane Isabel (2003) — reflectivity and velocity side by side; spot the fold and the smaller velocity disk.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3529584"/>
            <a:ext cx="8046720" cy="914400"/>
          </a:xfrm>
          <a:prstGeom prst="roundRect">
            <a:avLst>
              <a:gd name="adj" fmla="val 9000"/>
            </a:avLst>
          </a:prstGeom>
          <a:solidFill>
            <a:srgbClr val="0E2A47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822960" y="3712464"/>
            <a:ext cx="548640" cy="548640"/>
          </a:xfrm>
          <a:prstGeom prst="ellipse">
            <a:avLst/>
          </a:prstGeom>
          <a:solidFill>
            <a:srgbClr val="E0A33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384962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72768" y="3675888"/>
            <a:ext cx="6748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0A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050" dirty="0"/>
          </a:p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and velocity share one pulse train, and r_max·v_max = cλ/8 is a wall — folding and aliasing are artifacts you learn to read.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389888" y="53644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2700" dirty="0"/>
          </a:p>
        </p:txBody>
      </p:sp>
      <p:sp>
        <p:nvSpPr>
          <p:cNvPr id="15" name="Shape 10"/>
          <p:cNvSpPr/>
          <p:nvPr/>
        </p:nvSpPr>
        <p:spPr>
          <a:xfrm>
            <a:off x="566928" y="1501439"/>
            <a:ext cx="8046720" cy="914400"/>
          </a:xfrm>
          <a:prstGeom prst="roundRect">
            <a:avLst>
              <a:gd name="adj" fmla="val 9000"/>
            </a:avLst>
          </a:prstGeom>
          <a:solidFill>
            <a:srgbClr val="0E2A47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841248" y="1684319"/>
            <a:ext cx="548640" cy="548640"/>
          </a:xfrm>
          <a:prstGeom prst="ellipse">
            <a:avLst/>
          </a:prstGeom>
          <a:solidFill>
            <a:srgbClr val="E0A33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092" y="1821479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91056" y="1647743"/>
            <a:ext cx="6748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Isabel data we looked for an aliased patch, a spot where the wind seemed to flip suddenly. Once we know to spot it as an artifact, not a real reversal, how does that change the way we'd read a velocity image — and why is a limit we can't remove still worth knowing?</a:t>
            </a:r>
            <a:endParaRPr lang="en-US" sz="1050" dirty="0"/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553835F5-CBAE-4139-ABE4-1BC5618DEE3F}"/>
              </a:ext>
            </a:extLst>
          </p:cNvPr>
          <p:cNvSpPr/>
          <p:nvPr/>
        </p:nvSpPr>
        <p:spPr>
          <a:xfrm>
            <a:off x="566928" y="2598719"/>
            <a:ext cx="8046720" cy="914400"/>
          </a:xfrm>
          <a:prstGeom prst="roundRect">
            <a:avLst>
              <a:gd name="adj" fmla="val 9000"/>
            </a:avLst>
          </a:prstGeom>
          <a:solidFill>
            <a:srgbClr val="0E2A47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1D387E5A-61F7-455A-9909-5E3BDA8A1FE8}"/>
              </a:ext>
            </a:extLst>
          </p:cNvPr>
          <p:cNvSpPr/>
          <p:nvPr/>
        </p:nvSpPr>
        <p:spPr>
          <a:xfrm>
            <a:off x="841248" y="2781599"/>
            <a:ext cx="548640" cy="548640"/>
          </a:xfrm>
          <a:prstGeom prst="ellipse">
            <a:avLst/>
          </a:prstGeom>
          <a:solidFill>
            <a:srgbClr val="E0A33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>
            <a:extLst>
              <a:ext uri="{FF2B5EF4-FFF2-40B4-BE49-F238E27FC236}">
                <a16:creationId xmlns:a16="http://schemas.microsoft.com/office/drawing/2014/main" id="{01390C2A-10F8-442C-9DD5-7526707658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092" y="2918759"/>
            <a:ext cx="274320" cy="274320"/>
          </a:xfrm>
          <a:prstGeom prst="rect">
            <a:avLst/>
          </a:prstGeom>
        </p:spPr>
      </p:pic>
      <p:sp>
        <p:nvSpPr>
          <p:cNvPr id="23" name="Text 12">
            <a:extLst>
              <a:ext uri="{FF2B5EF4-FFF2-40B4-BE49-F238E27FC236}">
                <a16:creationId xmlns:a16="http://schemas.microsoft.com/office/drawing/2014/main" id="{1C1E7AF8-3806-4285-97E7-4475CBB908FD}"/>
              </a:ext>
            </a:extLst>
          </p:cNvPr>
          <p:cNvSpPr/>
          <p:nvPr/>
        </p:nvSpPr>
        <p:spPr>
          <a:xfrm>
            <a:off x="1591056" y="2745023"/>
            <a:ext cx="6748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had to choose between a radar that sees very far but can't measure fast winds, and one that measures fast winds but only nearby, what kinds of weather would push us toward each?</a:t>
            </a:r>
            <a:endParaRPr lang="en-US" sz="1050" dirty="0"/>
          </a:p>
        </p:txBody>
      </p:sp>
      <p:sp>
        <p:nvSpPr>
          <p:cNvPr id="24" name="Shape 0">
            <a:extLst>
              <a:ext uri="{FF2B5EF4-FFF2-40B4-BE49-F238E27FC236}">
                <a16:creationId xmlns:a16="http://schemas.microsoft.com/office/drawing/2014/main" id="{46DD00A4-40F3-4367-8458-B08BAB039F83}"/>
              </a:ext>
            </a:extLst>
          </p:cNvPr>
          <p:cNvSpPr/>
          <p:nvPr/>
        </p:nvSpPr>
        <p:spPr>
          <a:xfrm>
            <a:off x="701040" y="5364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299851C2-A12B-4B36-A5EF-F1FEEE11F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72" y="678180"/>
            <a:ext cx="283464" cy="283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5609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0" y="-320040"/>
            <a:ext cx="3566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18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640080" y="731520"/>
            <a:ext cx="914400" cy="914400"/>
          </a:xfrm>
          <a:prstGeom prst="ellipse">
            <a:avLst/>
          </a:prstGeom>
          <a:solidFill>
            <a:srgbClr val="E0A33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9601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6656" y="18105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0A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04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21792" y="2121408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Wavelength, weather &amp; the scan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58368" y="312724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9CB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wavelength shape what you see, and how do you assemble a volume?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58368" y="3822192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networks run C-band — and here, every choice buys something and pays for it.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Shorter wavelength, bigger price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1F6F8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7830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S-band  ·  10 cm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13816" y="2221992"/>
            <a:ext cx="203911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Attenuation negligible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through heavy cores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dish, long range (NEXRAD)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73552" y="160020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1F6F8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547872" y="17830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A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C-band  ·  5 cm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584448" y="2221992"/>
            <a:ext cx="203911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Attenuation is real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African networks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dish, more sensitive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035040" y="160020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1F6F8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309360" y="17830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X-band  ·  3 cm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345936" y="2221992"/>
            <a:ext cx="203911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Attenuation severe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 can be wiped out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/ gap-filler radars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02920" y="41148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shorter wavelength buys a finer beam from a smaller dish — but rain absorbs and scatters it more.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competition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1F6F8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86384" y="170078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114" y="1826514"/>
            <a:ext cx="251460" cy="2514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44752" y="170078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sensitive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804672" y="2304288"/>
            <a:ext cx="332841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shorter wavelength detects weaker echoes at the same dish (the 1/λ⁴ term).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572000" y="1463040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1F6F8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4809744" y="170078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5474" y="1826514"/>
            <a:ext cx="251460" cy="2514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68112" y="170078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attenuates more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4828032" y="2304288"/>
            <a:ext cx="332841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loss grows with range — it's a path integral through the rain.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3401568"/>
            <a:ext cx="7863840" cy="548640"/>
          </a:xfrm>
          <a:prstGeom prst="roundRect">
            <a:avLst>
              <a:gd name="adj" fmla="val 15000"/>
            </a:avLst>
          </a:prstGeom>
          <a:solidFill>
            <a:srgbClr val="FBEFD7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822960" y="340156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9A6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band sees a distant storm? Whichever wins the crossover.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scan is many beams in finite time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1F6F8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86384" y="15773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114" y="1703070"/>
            <a:ext cx="251460" cy="2514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81328" y="1499616"/>
            <a:ext cx="6876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 of silence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481328" y="1801368"/>
            <a:ext cx="6876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sampled above the top tilt — a blind cone directly over the radar.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2395728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1F6F8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786384" y="260146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114" y="2727198"/>
            <a:ext cx="251460" cy="2514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81328" y="2523744"/>
            <a:ext cx="6876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Low-level gap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481328" y="2825496"/>
            <a:ext cx="6876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bottom tilt, distant low-level weather is missed.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3419856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1F6F8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786384" y="362559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114" y="3751326"/>
            <a:ext cx="251460" cy="2514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81328" y="3547872"/>
            <a:ext cx="6876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time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481328" y="3849624"/>
            <a:ext cx="6876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added tilt slows the volume — the exact problem phased arrays solve.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do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1F6F8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86384" y="15316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114" y="1657350"/>
            <a:ext cx="251460" cy="2514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81328" y="1453896"/>
            <a:ext cx="6876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widgets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481328" y="1755648"/>
            <a:ext cx="6876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Attenuation · sensitivity-vs-attenuation · scan strategies.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233172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1F6F8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786384" y="25374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114" y="2663190"/>
            <a:ext cx="251460" cy="2514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81328" y="2459736"/>
            <a:ext cx="6876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481328" y="2761488"/>
            <a:ext cx="6876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S/C pairs — where C-band loses to attenuation, and where it wins on sensitivity.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3419856"/>
            <a:ext cx="8046720" cy="868680"/>
          </a:xfrm>
          <a:prstGeom prst="roundRect">
            <a:avLst>
              <a:gd name="adj" fmla="val 9474"/>
            </a:avLst>
          </a:prstGeom>
          <a:solidFill>
            <a:srgbClr val="0E2A47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822960" y="3579876"/>
            <a:ext cx="548640" cy="548640"/>
          </a:xfrm>
          <a:prstGeom prst="ellipse">
            <a:avLst/>
          </a:prstGeom>
          <a:solidFill>
            <a:srgbClr val="E0A33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3717036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72768" y="3566160"/>
            <a:ext cx="67482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0A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050" dirty="0"/>
          </a:p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gain has a coupled cost: a shorter λ buys sensitivity but pays in attenuation; more tilts trade detail against clean velocity and update speed.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operational C-band radars recover much of the attenuated signal with dual-pol (KDP) — the practical fix, coming in Block 5.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389888" y="53644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2700" dirty="0"/>
          </a:p>
        </p:txBody>
      </p:sp>
      <p:sp>
        <p:nvSpPr>
          <p:cNvPr id="15" name="Shape 10"/>
          <p:cNvSpPr/>
          <p:nvPr/>
        </p:nvSpPr>
        <p:spPr>
          <a:xfrm>
            <a:off x="566928" y="1501439"/>
            <a:ext cx="8046720" cy="914400"/>
          </a:xfrm>
          <a:prstGeom prst="roundRect">
            <a:avLst>
              <a:gd name="adj" fmla="val 9000"/>
            </a:avLst>
          </a:prstGeom>
          <a:solidFill>
            <a:srgbClr val="0E2A47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6" name="Shape 11"/>
          <p:cNvSpPr/>
          <p:nvPr/>
        </p:nvSpPr>
        <p:spPr>
          <a:xfrm>
            <a:off x="841248" y="1684319"/>
            <a:ext cx="548640" cy="548640"/>
          </a:xfrm>
          <a:prstGeom prst="ellipse">
            <a:avLst/>
          </a:prstGeom>
          <a:solidFill>
            <a:srgbClr val="E0A33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092" y="1821479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91056" y="1647743"/>
            <a:ext cx="6748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blocks, one theme kept returning: every radar choice — wavelength, dish, pulse, tilts — buys something and costs something. Which trade-off surprised you most, and could you "fix" it with a better radar, or is the cost baked into the physics?</a:t>
            </a:r>
            <a:endParaRPr lang="en-US" sz="1050" dirty="0"/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553835F5-CBAE-4139-ABE4-1BC5618DEE3F}"/>
              </a:ext>
            </a:extLst>
          </p:cNvPr>
          <p:cNvSpPr/>
          <p:nvPr/>
        </p:nvSpPr>
        <p:spPr>
          <a:xfrm>
            <a:off x="566928" y="2598719"/>
            <a:ext cx="8046720" cy="914400"/>
          </a:xfrm>
          <a:prstGeom prst="roundRect">
            <a:avLst>
              <a:gd name="adj" fmla="val 9000"/>
            </a:avLst>
          </a:prstGeom>
          <a:solidFill>
            <a:srgbClr val="0E2A47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1D387E5A-61F7-455A-9909-5E3BDA8A1FE8}"/>
              </a:ext>
            </a:extLst>
          </p:cNvPr>
          <p:cNvSpPr/>
          <p:nvPr/>
        </p:nvSpPr>
        <p:spPr>
          <a:xfrm>
            <a:off x="841248" y="2781599"/>
            <a:ext cx="548640" cy="548640"/>
          </a:xfrm>
          <a:prstGeom prst="ellipse">
            <a:avLst/>
          </a:prstGeom>
          <a:solidFill>
            <a:srgbClr val="E0A33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>
            <a:extLst>
              <a:ext uri="{FF2B5EF4-FFF2-40B4-BE49-F238E27FC236}">
                <a16:creationId xmlns:a16="http://schemas.microsoft.com/office/drawing/2014/main" id="{01390C2A-10F8-442C-9DD5-7526707658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092" y="2918759"/>
            <a:ext cx="274320" cy="274320"/>
          </a:xfrm>
          <a:prstGeom prst="rect">
            <a:avLst/>
          </a:prstGeom>
        </p:spPr>
      </p:pic>
      <p:sp>
        <p:nvSpPr>
          <p:cNvPr id="23" name="Text 12">
            <a:extLst>
              <a:ext uri="{FF2B5EF4-FFF2-40B4-BE49-F238E27FC236}">
                <a16:creationId xmlns:a16="http://schemas.microsoft.com/office/drawing/2014/main" id="{1C1E7AF8-3806-4285-97E7-4475CBB908FD}"/>
              </a:ext>
            </a:extLst>
          </p:cNvPr>
          <p:cNvSpPr/>
          <p:nvPr/>
        </p:nvSpPr>
        <p:spPr>
          <a:xfrm>
            <a:off x="1591056" y="2745023"/>
            <a:ext cx="6748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someone handed you a single radar image with no other information, what would you now want to know about the radar itself before trusting what the image shows?</a:t>
            </a:r>
            <a:endParaRPr lang="en-US" sz="1050" dirty="0"/>
          </a:p>
        </p:txBody>
      </p:sp>
      <p:sp>
        <p:nvSpPr>
          <p:cNvPr id="24" name="Shape 0">
            <a:extLst>
              <a:ext uri="{FF2B5EF4-FFF2-40B4-BE49-F238E27FC236}">
                <a16:creationId xmlns:a16="http://schemas.microsoft.com/office/drawing/2014/main" id="{46DD00A4-40F3-4367-8458-B08BAB039F83}"/>
              </a:ext>
            </a:extLst>
          </p:cNvPr>
          <p:cNvSpPr/>
          <p:nvPr/>
        </p:nvSpPr>
        <p:spPr>
          <a:xfrm>
            <a:off x="701040" y="5364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299851C2-A12B-4B36-A5EF-F1FEEE11F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72" y="678180"/>
            <a:ext cx="283464" cy="283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2888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0" y="-320040"/>
            <a:ext cx="3566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0" b="1" i="0" u="none" strike="noStrike" kern="1200" cap="none" spc="0" normalizeH="0" baseline="0" noProof="0" dirty="0">
                <a:ln>
                  <a:noFill/>
                </a:ln>
                <a:solidFill>
                  <a:srgbClr val="183B5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kumimoji="0" lang="en-US" sz="20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731520"/>
            <a:ext cx="914400" cy="914400"/>
          </a:xfrm>
          <a:prstGeom prst="ellipse">
            <a:avLst/>
          </a:prstGeom>
          <a:solidFill>
            <a:srgbClr val="E0A3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9601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6656" y="18105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300" normalizeH="0" baseline="0" noProof="0" dirty="0">
                <a:ln>
                  <a:noFill/>
                </a:ln>
                <a:solidFill>
                  <a:srgbClr val="E0A33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BLOCK 05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621792" y="2121408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Two polarizations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658368" y="312724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A9CBD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echo made of — not just how much?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658368" y="3822192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DCE7E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single polarization tells you how much is there. Two — horizontal and vertical — tell you what it is.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polarizations, one volume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8046720" cy="960120"/>
          </a:xfrm>
          <a:prstGeom prst="roundRect">
            <a:avLst>
              <a:gd name="adj" fmla="val 7619"/>
            </a:avLst>
          </a:prstGeom>
          <a:solidFill>
            <a:srgbClr val="F1F6F8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86384" y="1645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114" y="1771650"/>
            <a:ext cx="251460" cy="2514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81328" y="1545336"/>
            <a:ext cx="6876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and vertical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481328" y="1847088"/>
            <a:ext cx="6876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radar sends and receives at both polarizations. On its own, each one is just reflectivity.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2496312"/>
            <a:ext cx="8046720" cy="960120"/>
          </a:xfrm>
          <a:prstGeom prst="roundRect">
            <a:avLst>
              <a:gd name="adj" fmla="val 7619"/>
            </a:avLst>
          </a:prstGeom>
          <a:solidFill>
            <a:srgbClr val="F1F6F8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786384" y="272491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114" y="2850642"/>
            <a:ext cx="251460" cy="2514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81328" y="2624328"/>
            <a:ext cx="6876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comparison carries the information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481328" y="2926080"/>
            <a:ext cx="6876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H and V returns differ — in strength, uniformity, and phase — reveals shape, variety, and rain.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3575304"/>
            <a:ext cx="8046720" cy="960120"/>
          </a:xfrm>
          <a:prstGeom prst="roundRect">
            <a:avLst>
              <a:gd name="adj" fmla="val 7619"/>
            </a:avLst>
          </a:prstGeom>
          <a:solidFill>
            <a:srgbClr val="F1F6F8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786384" y="380390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114" y="3929634"/>
            <a:ext cx="251460" cy="2514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81328" y="3703320"/>
            <a:ext cx="6876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have shape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481328" y="4005072"/>
            <a:ext cx="6876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Raindrops flatten as they fall; hail tumbles; snow is irregular — two polarizations finally tell them apart.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idea: three new variables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155448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1F6F8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7373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 — shape &amp; size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13816" y="2176272"/>
            <a:ext cx="203911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flattened the drops are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drops → high ZDR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Tumbling hail → near zero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73552" y="155448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1F6F8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547872" y="17373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ρhv — variety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584448" y="2176272"/>
            <a:ext cx="203911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uniform the mix is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 for pure rain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for hail, melt, non-weather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035040" y="155448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1F6F8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309360" y="17373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A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KDP — phase rain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345936" y="2176272"/>
            <a:ext cx="203911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phase-based rain rate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Immune to attenuation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Block 4's shadow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02920" y="41605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maps to a widget: ZDR → drop shape · ρhv → particle variety · KDP → attenuation-proof rainfall.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“how much” to “what is it”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1F6F8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86384" y="15773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114" y="1703070"/>
            <a:ext cx="251460" cy="2514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81328" y="1499616"/>
            <a:ext cx="6876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things apart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481328" y="1801368"/>
            <a:ext cx="6876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Hail vs heavy rain, the melting layer, big drops — single-pol Z can't separate them; dual-pol can.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2395728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1F6F8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786384" y="260146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114" y="2727198"/>
            <a:ext cx="251460" cy="2514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81328" y="2523744"/>
            <a:ext cx="6876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non-weather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481328" y="2825496"/>
            <a:ext cx="6876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Birds, insects, and ground clutter show very low ρhv — easy to screen out.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3419856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1F6F8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786384" y="362559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114" y="3751326"/>
            <a:ext cx="251460" cy="2514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81328" y="3547872"/>
            <a:ext cx="6876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Rescue rainfall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481328" y="3849624"/>
            <a:ext cx="6876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KDP measures rain through a phase that attenuation can't touch — the fix for Block 4's shadow.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4498848"/>
            <a:ext cx="8046720" cy="548640"/>
          </a:xfrm>
          <a:prstGeom prst="roundRect">
            <a:avLst>
              <a:gd name="adj" fmla="val 15000"/>
            </a:avLst>
          </a:prstGeom>
          <a:solidFill>
            <a:srgbClr val="FBEFD7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822960" y="449884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9A6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says how much. Dual-pol says what it is.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do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1F6F8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86384" y="15773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114" y="1703070"/>
            <a:ext cx="251460" cy="2514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81328" y="1499616"/>
            <a:ext cx="6876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widgets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481328" y="1801368"/>
            <a:ext cx="6876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 &amp; drop shape · ρhv &amp; particle variety · KDP &amp; attenuation-proof rainfall.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2395728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1F6F8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786384" y="260146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114" y="2727198"/>
            <a:ext cx="251460" cy="2514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81328" y="2523744"/>
            <a:ext cx="6876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481328" y="2825496"/>
            <a:ext cx="6876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KTLX (Moore, 20 May 2013) — Z, ZDR, ρhv, and ΦDP of one storm, side by side.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3529584"/>
            <a:ext cx="8046720" cy="914400"/>
          </a:xfrm>
          <a:prstGeom prst="roundRect">
            <a:avLst>
              <a:gd name="adj" fmla="val 9000"/>
            </a:avLst>
          </a:prstGeom>
          <a:solidFill>
            <a:srgbClr val="0E2A47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822960" y="3712464"/>
            <a:ext cx="548640" cy="548640"/>
          </a:xfrm>
          <a:prstGeom prst="ellipse">
            <a:avLst/>
          </a:prstGeom>
          <a:solidFill>
            <a:srgbClr val="E0A33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384962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72768" y="3675888"/>
            <a:ext cx="6748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0A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050" dirty="0"/>
          </a:p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polarization tells you how much; two tell you what it is — ZDR reads shape, ρhv reads variety, KDP measures rain through attenuation.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57054-B722-E850-6D68-6B2933220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283DB529-5F25-32C4-D1BA-5760686116FD}"/>
              </a:ext>
            </a:extLst>
          </p:cNvPr>
          <p:cNvSpPr/>
          <p:nvPr/>
        </p:nvSpPr>
        <p:spPr>
          <a:xfrm>
            <a:off x="1389888" y="53644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2700" dirty="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35C724BD-E510-88F6-7220-2E18E327A482}"/>
              </a:ext>
            </a:extLst>
          </p:cNvPr>
          <p:cNvSpPr/>
          <p:nvPr/>
        </p:nvSpPr>
        <p:spPr>
          <a:xfrm>
            <a:off x="566928" y="1501439"/>
            <a:ext cx="8046720" cy="914400"/>
          </a:xfrm>
          <a:prstGeom prst="roundRect">
            <a:avLst>
              <a:gd name="adj" fmla="val 9000"/>
            </a:avLst>
          </a:prstGeom>
          <a:solidFill>
            <a:srgbClr val="0E2A47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19E1DB91-1947-609F-34BE-54E61163B84C}"/>
              </a:ext>
            </a:extLst>
          </p:cNvPr>
          <p:cNvSpPr/>
          <p:nvPr/>
        </p:nvSpPr>
        <p:spPr>
          <a:xfrm>
            <a:off x="841248" y="1684319"/>
            <a:ext cx="548640" cy="548640"/>
          </a:xfrm>
          <a:prstGeom prst="ellipse">
            <a:avLst/>
          </a:prstGeom>
          <a:solidFill>
            <a:srgbClr val="E0A33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F310A550-9D71-26CC-3324-2B1E044229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092" y="1821479"/>
            <a:ext cx="274320" cy="274320"/>
          </a:xfrm>
          <a:prstGeom prst="rect">
            <a:avLst/>
          </a:prstGeom>
        </p:spPr>
      </p:pic>
      <p:sp>
        <p:nvSpPr>
          <p:cNvPr id="18" name="Text 12">
            <a:extLst>
              <a:ext uri="{FF2B5EF4-FFF2-40B4-BE49-F238E27FC236}">
                <a16:creationId xmlns:a16="http://schemas.microsoft.com/office/drawing/2014/main" id="{5265D004-AC59-2583-5DBB-7743D9D58E49}"/>
              </a:ext>
            </a:extLst>
          </p:cNvPr>
          <p:cNvSpPr/>
          <p:nvPr/>
        </p:nvSpPr>
        <p:spPr>
          <a:xfrm>
            <a:off x="1591056" y="1647743"/>
            <a:ext cx="6748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KTLX panels we used dual-pol to read one storm and found a 60 </a:t>
            </a:r>
            <a:r>
              <a:rPr lang="en-US" sz="13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dBZ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core that turned out to be heavy rain, not hail. What's a question someone might ask about a radar image that reflectivity alone can't settle, but dual-pol can?</a:t>
            </a:r>
            <a:endParaRPr lang="en-US" sz="1050" dirty="0"/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D0B76FD6-A204-2F8F-D58A-6B2EDF45502A}"/>
              </a:ext>
            </a:extLst>
          </p:cNvPr>
          <p:cNvSpPr/>
          <p:nvPr/>
        </p:nvSpPr>
        <p:spPr>
          <a:xfrm>
            <a:off x="566928" y="2598719"/>
            <a:ext cx="8046720" cy="914400"/>
          </a:xfrm>
          <a:prstGeom prst="roundRect">
            <a:avLst>
              <a:gd name="adj" fmla="val 9000"/>
            </a:avLst>
          </a:prstGeom>
          <a:solidFill>
            <a:srgbClr val="0E2A47"/>
          </a:solidFill>
          <a:ln/>
          <a:effectLst>
            <a:outerShdw blurRad="88900" dist="38100" dir="5400000" algn="bl" rotWithShape="0">
              <a:srgbClr val="1A24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0B9F0F3E-9909-540F-C5E6-2BA280C2E0D9}"/>
              </a:ext>
            </a:extLst>
          </p:cNvPr>
          <p:cNvSpPr/>
          <p:nvPr/>
        </p:nvSpPr>
        <p:spPr>
          <a:xfrm>
            <a:off x="841248" y="2781599"/>
            <a:ext cx="548640" cy="548640"/>
          </a:xfrm>
          <a:prstGeom prst="ellipse">
            <a:avLst/>
          </a:prstGeom>
          <a:solidFill>
            <a:srgbClr val="E0A33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>
            <a:extLst>
              <a:ext uri="{FF2B5EF4-FFF2-40B4-BE49-F238E27FC236}">
                <a16:creationId xmlns:a16="http://schemas.microsoft.com/office/drawing/2014/main" id="{D4A3AA07-FE2F-FD3C-7E12-3F10A94BF5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092" y="2918759"/>
            <a:ext cx="274320" cy="274320"/>
          </a:xfrm>
          <a:prstGeom prst="rect">
            <a:avLst/>
          </a:prstGeom>
        </p:spPr>
      </p:pic>
      <p:sp>
        <p:nvSpPr>
          <p:cNvPr id="23" name="Text 12">
            <a:extLst>
              <a:ext uri="{FF2B5EF4-FFF2-40B4-BE49-F238E27FC236}">
                <a16:creationId xmlns:a16="http://schemas.microsoft.com/office/drawing/2014/main" id="{DDE90F3A-D405-CAE0-80BF-5789611420F3}"/>
              </a:ext>
            </a:extLst>
          </p:cNvPr>
          <p:cNvSpPr/>
          <p:nvPr/>
        </p:nvSpPr>
        <p:spPr>
          <a:xfrm>
            <a:off x="1591056" y="2745023"/>
            <a:ext cx="6748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back across all five blocks, what's the one thing you'd want a colleague to keep in mind before trusting a single radar number?</a:t>
            </a:r>
            <a:endParaRPr lang="en-US" sz="1050" dirty="0"/>
          </a:p>
        </p:txBody>
      </p:sp>
      <p:sp>
        <p:nvSpPr>
          <p:cNvPr id="24" name="Shape 0">
            <a:extLst>
              <a:ext uri="{FF2B5EF4-FFF2-40B4-BE49-F238E27FC236}">
                <a16:creationId xmlns:a16="http://schemas.microsoft.com/office/drawing/2014/main" id="{1409A04D-B389-FE2E-A156-CC1184BCC5D7}"/>
              </a:ext>
            </a:extLst>
          </p:cNvPr>
          <p:cNvSpPr/>
          <p:nvPr/>
        </p:nvSpPr>
        <p:spPr>
          <a:xfrm>
            <a:off x="701040" y="5364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3A769368-79E9-5979-0D56-5B5803248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72" y="678180"/>
            <a:ext cx="283464" cy="283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741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3008</Words>
  <Application>Microsoft Office PowerPoint</Application>
  <PresentationFormat>On-screen Show (16:9)</PresentationFormat>
  <Paragraphs>273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Reading the Radar — pre-block briefings</dc:title>
  <dc:subject>PptxGenJS Presentation</dc:subject>
  <dc:creator>Sebastián Torres</dc:creator>
  <cp:lastModifiedBy>Torres, Sebastian M.</cp:lastModifiedBy>
  <cp:revision>5</cp:revision>
  <dcterms:created xsi:type="dcterms:W3CDTF">2026-06-25T15:03:34Z</dcterms:created>
  <dcterms:modified xsi:type="dcterms:W3CDTF">2026-06-29T19:55:20Z</dcterms:modified>
</cp:coreProperties>
</file>